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44577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Shape 1"/>
          <p:cNvSpPr/>
          <p:nvPr/>
        </p:nvSpPr>
        <p:spPr>
          <a:xfrm>
            <a:off x="0" y="5070348"/>
            <a:ext cx="9144000" cy="73152"/>
          </a:xfrm>
          <a:prstGeom prst="rect">
            <a:avLst/>
          </a:prstGeom>
          <a:solidFill>
            <a:srgbClr val="4A90D9"/>
          </a:solidFill>
          <a:ln/>
        </p:spPr>
      </p:sp>
      <p:sp>
        <p:nvSpPr>
          <p:cNvPr id="4" name="Shape 2"/>
          <p:cNvSpPr/>
          <p:nvPr/>
        </p:nvSpPr>
        <p:spPr>
          <a:xfrm>
            <a:off x="0" y="73152"/>
            <a:ext cx="73152" cy="4997196"/>
          </a:xfrm>
          <a:prstGeom prst="rect">
            <a:avLst/>
          </a:prstGeom>
          <a:solidFill>
            <a:srgbClr val="0891B2"/>
          </a:solidFill>
          <a:ln/>
        </p:spPr>
      </p:sp>
      <p:sp>
        <p:nvSpPr>
          <p:cNvPr id="5" name="Text 3"/>
          <p:cNvSpPr/>
          <p:nvPr/>
        </p:nvSpPr>
        <p:spPr>
          <a:xfrm>
            <a:off x="365760" y="457200"/>
            <a:ext cx="8412480" cy="320040"/>
          </a:xfrm>
          <a:prstGeom prst="rect">
            <a:avLst/>
          </a:prstGeom>
          <a:noFill/>
          <a:ln/>
        </p:spPr>
        <p:txBody>
          <a:bodyPr wrap="square" rtlCol="0" anchor="ctr"/>
          <a:lstStyle/>
          <a:p>
            <a:pPr marL="0" indent="0" algn="ctr">
              <a:buNone/>
            </a:pPr>
            <a:r>
              <a:rPr lang="en-US" sz="1100" b="1" kern="0" spc="200" dirty="0">
                <a:solidFill>
                  <a:srgbClr val="CBD5E1"/>
                </a:solidFill>
                <a:latin typeface="Calibri" pitchFamily="34" charset="0"/>
                <a:ea typeface="Calibri" pitchFamily="34" charset="-122"/>
                <a:cs typeface="Calibri" pitchFamily="34" charset="-120"/>
              </a:rPr>
              <a:t>DATA SEMANTICS 2024–25  •  PROJECT 5</a:t>
            </a:r>
            <a:endParaRPr lang="en-US" sz="1100" dirty="0"/>
          </a:p>
        </p:txBody>
      </p:sp>
      <p:sp>
        <p:nvSpPr>
          <p:cNvPr id="6" name="Text 4"/>
          <p:cNvSpPr/>
          <p:nvPr/>
        </p:nvSpPr>
        <p:spPr>
          <a:xfrm>
            <a:off x="365760" y="868680"/>
            <a:ext cx="8412480" cy="77724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Distributional Semantics</a:t>
            </a:r>
            <a:endParaRPr lang="en-US" sz="3800" dirty="0"/>
          </a:p>
        </p:txBody>
      </p:sp>
      <p:sp>
        <p:nvSpPr>
          <p:cNvPr id="7" name="Text 5"/>
          <p:cNvSpPr/>
          <p:nvPr/>
        </p:nvSpPr>
        <p:spPr>
          <a:xfrm>
            <a:off x="365760" y="1664208"/>
            <a:ext cx="8412480" cy="502920"/>
          </a:xfrm>
          <a:prstGeom prst="rect">
            <a:avLst/>
          </a:prstGeom>
          <a:noFill/>
          <a:ln/>
        </p:spPr>
        <p:txBody>
          <a:bodyPr wrap="square" rtlCol="0" anchor="ctr"/>
          <a:lstStyle/>
          <a:p>
            <a:pPr marL="0" indent="0" algn="ctr">
              <a:buNone/>
            </a:pPr>
            <a:r>
              <a:rPr lang="en-US" sz="2000" i="1" dirty="0">
                <a:solidFill>
                  <a:srgbClr val="4A90D9"/>
                </a:solidFill>
                <a:latin typeface="Calibri" pitchFamily="34" charset="0"/>
                <a:ea typeface="Calibri" pitchFamily="34" charset="-122"/>
                <a:cs typeface="Calibri" pitchFamily="34" charset="-120"/>
              </a:rPr>
              <a:t>English Literature Semantic Change</a:t>
            </a:r>
            <a:endParaRPr lang="en-US" sz="2000" dirty="0"/>
          </a:p>
        </p:txBody>
      </p:sp>
      <p:sp>
        <p:nvSpPr>
          <p:cNvPr id="8" name="Shape 6"/>
          <p:cNvSpPr/>
          <p:nvPr/>
        </p:nvSpPr>
        <p:spPr>
          <a:xfrm>
            <a:off x="2743200" y="2304288"/>
            <a:ext cx="3657600" cy="27432"/>
          </a:xfrm>
          <a:prstGeom prst="rect">
            <a:avLst/>
          </a:prstGeom>
          <a:solidFill>
            <a:srgbClr val="0891B2"/>
          </a:solidFill>
          <a:ln/>
        </p:spPr>
      </p:sp>
      <p:sp>
        <p:nvSpPr>
          <p:cNvPr id="9" name="Text 7"/>
          <p:cNvSpPr/>
          <p:nvPr/>
        </p:nvSpPr>
        <p:spPr>
          <a:xfrm>
            <a:off x="365760" y="2423160"/>
            <a:ext cx="8412480" cy="320040"/>
          </a:xfrm>
          <a:prstGeom prst="rect">
            <a:avLst/>
          </a:prstGeom>
          <a:noFill/>
          <a:ln/>
        </p:spPr>
        <p:txBody>
          <a:bodyPr wrap="square" rtlCol="0" anchor="ctr"/>
          <a:lstStyle/>
          <a:p>
            <a:pPr marL="0" indent="0" algn="ctr">
              <a:buNone/>
            </a:pPr>
            <a:r>
              <a:rPr lang="en-US" sz="1400" dirty="0">
                <a:solidFill>
                  <a:srgbClr val="CBD5E1"/>
                </a:solidFill>
                <a:latin typeface="Calibri" pitchFamily="34" charset="0"/>
                <a:ea typeface="Calibri" pitchFamily="34" charset="-122"/>
                <a:cs typeface="Calibri" pitchFamily="34" charset="-120"/>
              </a:rPr>
              <a:t>Domain: Project Gutenberg Literary Corpus  |  1800–1980</a:t>
            </a:r>
            <a:endParaRPr lang="en-US" sz="1400" dirty="0"/>
          </a:p>
        </p:txBody>
      </p:sp>
      <p:sp>
        <p:nvSpPr>
          <p:cNvPr id="10" name="Text 8"/>
          <p:cNvSpPr/>
          <p:nvPr/>
        </p:nvSpPr>
        <p:spPr>
          <a:xfrm>
            <a:off x="1313543" y="3474357"/>
            <a:ext cx="6400800" cy="320040"/>
          </a:xfrm>
          <a:prstGeom prst="rect">
            <a:avLst/>
          </a:prstGeom>
          <a:noFill/>
          <a:ln/>
        </p:spPr>
        <p:txBody>
          <a:bodyPr wrap="square" rtlCol="0" anchor="ctr"/>
          <a:lstStyle/>
          <a:p>
            <a:pPr marL="0" indent="0" algn="ctr">
              <a:buNone/>
            </a:pPr>
            <a:r>
              <a:rPr lang="en-US" sz="1400" b="1" dirty="0">
                <a:solidFill>
                  <a:srgbClr val="D97706"/>
                </a:solidFill>
                <a:latin typeface="Calibri" pitchFamily="34" charset="0"/>
                <a:ea typeface="Calibri" pitchFamily="34" charset="-122"/>
                <a:cs typeface="Calibri" pitchFamily="34" charset="-120"/>
              </a:rPr>
              <a:t>[ Fayyaz Hussain Shah - 946912 ]</a:t>
            </a:r>
            <a:endParaRPr lang="en-US" sz="1400" dirty="0"/>
          </a:p>
        </p:txBody>
      </p:sp>
      <p:sp>
        <p:nvSpPr>
          <p:cNvPr id="12" name="Text 10"/>
          <p:cNvSpPr/>
          <p:nvPr/>
        </p:nvSpPr>
        <p:spPr>
          <a:xfrm>
            <a:off x="365760" y="4617720"/>
            <a:ext cx="8412480" cy="274320"/>
          </a:xfrm>
          <a:prstGeom prst="rect">
            <a:avLst/>
          </a:prstGeom>
          <a:noFill/>
          <a:ln/>
        </p:spPr>
        <p:txBody>
          <a:bodyPr wrap="square" rtlCol="0" anchor="ctr"/>
          <a:lstStyle/>
          <a:p>
            <a:pPr marL="0" indent="0" algn="ctr">
              <a:buNone/>
            </a:pPr>
            <a:r>
              <a:rPr lang="en-US" sz="1000" dirty="0">
                <a:solidFill>
                  <a:srgbClr val="CBD5E1"/>
                </a:solidFill>
                <a:latin typeface="Calibri" pitchFamily="34" charset="0"/>
                <a:ea typeface="Calibri" pitchFamily="34" charset="-122"/>
                <a:cs typeface="Calibri" pitchFamily="34" charset="-120"/>
              </a:rPr>
              <a:t>Università degli Studi di Milano-Bicocca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What is Distributional Semantics?</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Background</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
        <p:nvSpPr>
          <p:cNvPr id="8" name="Text 6"/>
          <p:cNvSpPr/>
          <p:nvPr/>
        </p:nvSpPr>
        <p:spPr>
          <a:xfrm>
            <a:off x="457200" y="841248"/>
            <a:ext cx="8229600" cy="384048"/>
          </a:xfrm>
          <a:prstGeom prst="rect">
            <a:avLst/>
          </a:prstGeom>
          <a:noFill/>
          <a:ln/>
        </p:spPr>
        <p:txBody>
          <a:bodyPr wrap="square" rtlCol="0" anchor="ctr"/>
          <a:lstStyle/>
          <a:p>
            <a:pPr marL="0" indent="0" algn="ctr">
              <a:buNone/>
            </a:pPr>
            <a:r>
              <a:rPr lang="en-US" sz="1600" b="1" i="1" dirty="0">
                <a:solidFill>
                  <a:srgbClr val="0891B2"/>
                </a:solidFill>
                <a:latin typeface="Calibri" pitchFamily="34" charset="0"/>
                <a:ea typeface="Calibri" pitchFamily="34" charset="-122"/>
                <a:cs typeface="Calibri" pitchFamily="34" charset="-120"/>
              </a:rPr>
              <a:t>"You shall know a word by the company it keeps."</a:t>
            </a:r>
            <a:endParaRPr lang="en-US" sz="1600" dirty="0"/>
          </a:p>
        </p:txBody>
      </p:sp>
      <p:sp>
        <p:nvSpPr>
          <p:cNvPr id="9" name="Text 7"/>
          <p:cNvSpPr/>
          <p:nvPr/>
        </p:nvSpPr>
        <p:spPr>
          <a:xfrm>
            <a:off x="457200" y="1188720"/>
            <a:ext cx="8229600" cy="228600"/>
          </a:xfrm>
          <a:prstGeom prst="rect">
            <a:avLst/>
          </a:prstGeom>
          <a:noFill/>
          <a:ln/>
        </p:spPr>
        <p:txBody>
          <a:bodyPr wrap="square"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 J.R. Firth, 1957</a:t>
            </a:r>
            <a:endParaRPr lang="en-US" sz="1100" dirty="0"/>
          </a:p>
        </p:txBody>
      </p:sp>
      <p:sp>
        <p:nvSpPr>
          <p:cNvPr id="10" name="Shape 8"/>
          <p:cNvSpPr/>
          <p:nvPr/>
        </p:nvSpPr>
        <p:spPr>
          <a:xfrm>
            <a:off x="365760" y="1554480"/>
            <a:ext cx="4023360" cy="1234440"/>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1" name="Shape 9"/>
          <p:cNvSpPr/>
          <p:nvPr/>
        </p:nvSpPr>
        <p:spPr>
          <a:xfrm>
            <a:off x="365760" y="1554480"/>
            <a:ext cx="54864" cy="1234440"/>
          </a:xfrm>
          <a:prstGeom prst="rect">
            <a:avLst/>
          </a:prstGeom>
          <a:solidFill>
            <a:srgbClr val="0891B2"/>
          </a:solidFill>
          <a:ln/>
        </p:spPr>
      </p:sp>
      <p:sp>
        <p:nvSpPr>
          <p:cNvPr id="12" name="Text 10"/>
          <p:cNvSpPr/>
          <p:nvPr/>
        </p:nvSpPr>
        <p:spPr>
          <a:xfrm>
            <a:off x="493776" y="1627632"/>
            <a:ext cx="3840480" cy="201168"/>
          </a:xfrm>
          <a:prstGeom prst="rect">
            <a:avLst/>
          </a:prstGeom>
          <a:noFill/>
          <a:ln/>
        </p:spPr>
        <p:txBody>
          <a:bodyPr wrap="square" rtlCol="0" anchor="ctr"/>
          <a:lstStyle/>
          <a:p>
            <a:pPr marL="0" indent="0">
              <a:buNone/>
            </a:pPr>
            <a:r>
              <a:rPr lang="en-US" sz="900" b="1" kern="0" spc="100" dirty="0">
                <a:solidFill>
                  <a:srgbClr val="0891B2"/>
                </a:solidFill>
                <a:latin typeface="Calibri" pitchFamily="34" charset="0"/>
                <a:ea typeface="Calibri" pitchFamily="34" charset="-122"/>
                <a:cs typeface="Calibri" pitchFamily="34" charset="-120"/>
              </a:rPr>
              <a:t>THE CORE IDEA</a:t>
            </a:r>
            <a:endParaRPr lang="en-US" sz="900" dirty="0"/>
          </a:p>
        </p:txBody>
      </p:sp>
      <p:sp>
        <p:nvSpPr>
          <p:cNvPr id="13" name="Text 11"/>
          <p:cNvSpPr/>
          <p:nvPr/>
        </p:nvSpPr>
        <p:spPr>
          <a:xfrm>
            <a:off x="493776" y="1810512"/>
            <a:ext cx="3840480" cy="886968"/>
          </a:xfrm>
          <a:prstGeom prst="rect">
            <a:avLst/>
          </a:prstGeom>
          <a:noFill/>
          <a:ln/>
        </p:spPr>
        <p:txBody>
          <a:bodyPr wrap="square" rtlCol="0" anchor="t"/>
          <a:lstStyle/>
          <a:p>
            <a:pPr marL="0" indent="0">
              <a:buNone/>
            </a:pPr>
            <a:r>
              <a:rPr lang="en-US" sz="1200" dirty="0">
                <a:solidFill>
                  <a:srgbClr val="334155"/>
                </a:solidFill>
                <a:latin typeface="Calibri" pitchFamily="34" charset="0"/>
                <a:ea typeface="Calibri" pitchFamily="34" charset="-122"/>
                <a:cs typeface="Calibri" pitchFamily="34" charset="-120"/>
              </a:rPr>
              <a:t>Words appearing in similar contexts have similar meanings. Meaning emerges from usage patterns — not from definitions.</a:t>
            </a:r>
            <a:endParaRPr lang="en-US" sz="1200" dirty="0"/>
          </a:p>
        </p:txBody>
      </p:sp>
      <p:sp>
        <p:nvSpPr>
          <p:cNvPr id="14" name="Shape 12"/>
          <p:cNvSpPr/>
          <p:nvPr/>
        </p:nvSpPr>
        <p:spPr>
          <a:xfrm>
            <a:off x="4663440" y="1554480"/>
            <a:ext cx="4023360" cy="1234440"/>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5" name="Shape 13"/>
          <p:cNvSpPr/>
          <p:nvPr/>
        </p:nvSpPr>
        <p:spPr>
          <a:xfrm>
            <a:off x="4663440" y="1554480"/>
            <a:ext cx="54864" cy="1234440"/>
          </a:xfrm>
          <a:prstGeom prst="rect">
            <a:avLst/>
          </a:prstGeom>
          <a:solidFill>
            <a:srgbClr val="0891B2"/>
          </a:solidFill>
          <a:ln/>
        </p:spPr>
      </p:sp>
      <p:sp>
        <p:nvSpPr>
          <p:cNvPr id="16" name="Text 14"/>
          <p:cNvSpPr/>
          <p:nvPr/>
        </p:nvSpPr>
        <p:spPr>
          <a:xfrm>
            <a:off x="4791456" y="1627632"/>
            <a:ext cx="3840480" cy="201168"/>
          </a:xfrm>
          <a:prstGeom prst="rect">
            <a:avLst/>
          </a:prstGeom>
          <a:noFill/>
          <a:ln/>
        </p:spPr>
        <p:txBody>
          <a:bodyPr wrap="square" rtlCol="0" anchor="ctr"/>
          <a:lstStyle/>
          <a:p>
            <a:pPr marL="0" indent="0">
              <a:buNone/>
            </a:pPr>
            <a:r>
              <a:rPr lang="en-US" sz="900" b="1" kern="0" spc="100" dirty="0">
                <a:solidFill>
                  <a:srgbClr val="0891B2"/>
                </a:solidFill>
                <a:latin typeface="Calibri" pitchFamily="34" charset="0"/>
                <a:ea typeface="Calibri" pitchFamily="34" charset="-122"/>
                <a:cs typeface="Calibri" pitchFamily="34" charset="-120"/>
              </a:rPr>
              <a:t>WORD VECTORS</a:t>
            </a:r>
            <a:endParaRPr lang="en-US" sz="900" dirty="0"/>
          </a:p>
        </p:txBody>
      </p:sp>
      <p:sp>
        <p:nvSpPr>
          <p:cNvPr id="17" name="Text 15"/>
          <p:cNvSpPr/>
          <p:nvPr/>
        </p:nvSpPr>
        <p:spPr>
          <a:xfrm>
            <a:off x="4791456" y="1810512"/>
            <a:ext cx="3840480" cy="886968"/>
          </a:xfrm>
          <a:prstGeom prst="rect">
            <a:avLst/>
          </a:prstGeom>
          <a:noFill/>
          <a:ln/>
        </p:spPr>
        <p:txBody>
          <a:bodyPr wrap="square" rtlCol="0" anchor="t"/>
          <a:lstStyle/>
          <a:p>
            <a:pPr marL="0" indent="0">
              <a:buNone/>
            </a:pPr>
            <a:r>
              <a:rPr lang="en-US" sz="1200" dirty="0">
                <a:solidFill>
                  <a:srgbClr val="334155"/>
                </a:solidFill>
                <a:latin typeface="Calibri" pitchFamily="34" charset="0"/>
                <a:ea typeface="Calibri" pitchFamily="34" charset="-122"/>
                <a:cs typeface="Calibri" pitchFamily="34" charset="-120"/>
              </a:rPr>
              <a:t>Train a neural network on text → each word gets a list of ~100 numbers (a "vector"). Similar words point in the same direction in this mathematical space.</a:t>
            </a:r>
            <a:endParaRPr lang="en-US" sz="1200" dirty="0"/>
          </a:p>
        </p:txBody>
      </p:sp>
      <p:sp>
        <p:nvSpPr>
          <p:cNvPr id="18" name="Shape 16"/>
          <p:cNvSpPr/>
          <p:nvPr/>
        </p:nvSpPr>
        <p:spPr>
          <a:xfrm>
            <a:off x="365760" y="2926080"/>
            <a:ext cx="4023360" cy="1234440"/>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9" name="Shape 17"/>
          <p:cNvSpPr/>
          <p:nvPr/>
        </p:nvSpPr>
        <p:spPr>
          <a:xfrm>
            <a:off x="365760" y="2926080"/>
            <a:ext cx="54864" cy="1234440"/>
          </a:xfrm>
          <a:prstGeom prst="rect">
            <a:avLst/>
          </a:prstGeom>
          <a:solidFill>
            <a:srgbClr val="0891B2"/>
          </a:solidFill>
          <a:ln/>
        </p:spPr>
      </p:sp>
      <p:sp>
        <p:nvSpPr>
          <p:cNvPr id="20" name="Text 18"/>
          <p:cNvSpPr/>
          <p:nvPr/>
        </p:nvSpPr>
        <p:spPr>
          <a:xfrm>
            <a:off x="493776" y="2999232"/>
            <a:ext cx="3840480" cy="201168"/>
          </a:xfrm>
          <a:prstGeom prst="rect">
            <a:avLst/>
          </a:prstGeom>
          <a:noFill/>
          <a:ln/>
        </p:spPr>
        <p:txBody>
          <a:bodyPr wrap="square" rtlCol="0" anchor="ctr"/>
          <a:lstStyle/>
          <a:p>
            <a:pPr marL="0" indent="0">
              <a:buNone/>
            </a:pPr>
            <a:r>
              <a:rPr lang="en-US" sz="900" b="1" kern="0" spc="100" dirty="0">
                <a:solidFill>
                  <a:srgbClr val="0891B2"/>
                </a:solidFill>
                <a:latin typeface="Calibri" pitchFamily="34" charset="0"/>
                <a:ea typeface="Calibri" pitchFamily="34" charset="-122"/>
                <a:cs typeface="Calibri" pitchFamily="34" charset="-120"/>
              </a:rPr>
              <a:t>COSINE SIMILARITY</a:t>
            </a:r>
            <a:endParaRPr lang="en-US" sz="900" dirty="0"/>
          </a:p>
        </p:txBody>
      </p:sp>
      <p:sp>
        <p:nvSpPr>
          <p:cNvPr id="21" name="Text 19"/>
          <p:cNvSpPr/>
          <p:nvPr/>
        </p:nvSpPr>
        <p:spPr>
          <a:xfrm>
            <a:off x="493776" y="3182112"/>
            <a:ext cx="3840480" cy="886968"/>
          </a:xfrm>
          <a:prstGeom prst="rect">
            <a:avLst/>
          </a:prstGeom>
          <a:noFill/>
          <a:ln/>
        </p:spPr>
        <p:txBody>
          <a:bodyPr wrap="square" rtlCol="0" anchor="t"/>
          <a:lstStyle/>
          <a:p>
            <a:pPr marL="0" indent="0">
              <a:buNone/>
            </a:pPr>
            <a:r>
              <a:rPr lang="en-US" sz="1200" dirty="0">
                <a:solidFill>
                  <a:srgbClr val="334155"/>
                </a:solidFill>
                <a:latin typeface="Calibri" pitchFamily="34" charset="0"/>
                <a:ea typeface="Calibri" pitchFamily="34" charset="-122"/>
                <a:cs typeface="Calibri" pitchFamily="34" charset="-120"/>
              </a:rPr>
              <a:t>Measures the angle between two vectors. Score = 1.0 means identical context (nearly synonymous). Score ≈ 0 means unrelated. Our key metric throughout this project.</a:t>
            </a:r>
            <a:endParaRPr lang="en-US" sz="1200" dirty="0"/>
          </a:p>
        </p:txBody>
      </p:sp>
      <p:sp>
        <p:nvSpPr>
          <p:cNvPr id="22" name="Shape 20"/>
          <p:cNvSpPr/>
          <p:nvPr/>
        </p:nvSpPr>
        <p:spPr>
          <a:xfrm>
            <a:off x="4663440" y="2926080"/>
            <a:ext cx="4023360" cy="1234440"/>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23" name="Shape 21"/>
          <p:cNvSpPr/>
          <p:nvPr/>
        </p:nvSpPr>
        <p:spPr>
          <a:xfrm>
            <a:off x="4663440" y="2926080"/>
            <a:ext cx="54864" cy="1234440"/>
          </a:xfrm>
          <a:prstGeom prst="rect">
            <a:avLst/>
          </a:prstGeom>
          <a:solidFill>
            <a:srgbClr val="0891B2"/>
          </a:solidFill>
          <a:ln/>
        </p:spPr>
      </p:sp>
      <p:sp>
        <p:nvSpPr>
          <p:cNvPr id="24" name="Text 22"/>
          <p:cNvSpPr/>
          <p:nvPr/>
        </p:nvSpPr>
        <p:spPr>
          <a:xfrm>
            <a:off x="4791456" y="2999232"/>
            <a:ext cx="3840480" cy="201168"/>
          </a:xfrm>
          <a:prstGeom prst="rect">
            <a:avLst/>
          </a:prstGeom>
          <a:noFill/>
          <a:ln/>
        </p:spPr>
        <p:txBody>
          <a:bodyPr wrap="square" rtlCol="0" anchor="ctr"/>
          <a:lstStyle/>
          <a:p>
            <a:pPr marL="0" indent="0">
              <a:buNone/>
            </a:pPr>
            <a:r>
              <a:rPr lang="en-US" sz="900" b="1" kern="0" spc="100" dirty="0">
                <a:solidFill>
                  <a:srgbClr val="0891B2"/>
                </a:solidFill>
                <a:latin typeface="Calibri" pitchFamily="34" charset="0"/>
                <a:ea typeface="Calibri" pitchFamily="34" charset="-122"/>
                <a:cs typeface="Calibri" pitchFamily="34" charset="-120"/>
              </a:rPr>
              <a:t>WHY IT MATTERS</a:t>
            </a:r>
            <a:endParaRPr lang="en-US" sz="900" dirty="0"/>
          </a:p>
        </p:txBody>
      </p:sp>
      <p:sp>
        <p:nvSpPr>
          <p:cNvPr id="25" name="Text 23"/>
          <p:cNvSpPr/>
          <p:nvPr/>
        </p:nvSpPr>
        <p:spPr>
          <a:xfrm>
            <a:off x="4791456" y="3182112"/>
            <a:ext cx="3840480" cy="886968"/>
          </a:xfrm>
          <a:prstGeom prst="rect">
            <a:avLst/>
          </a:prstGeom>
          <a:noFill/>
          <a:ln/>
        </p:spPr>
        <p:txBody>
          <a:bodyPr wrap="square" rtlCol="0" anchor="t"/>
          <a:lstStyle/>
          <a:p>
            <a:pPr marL="0" indent="0">
              <a:buNone/>
            </a:pPr>
            <a:r>
              <a:rPr lang="en-US" sz="1200" dirty="0">
                <a:solidFill>
                  <a:srgbClr val="334155"/>
                </a:solidFill>
                <a:latin typeface="Calibri" pitchFamily="34" charset="0"/>
                <a:ea typeface="Calibri" pitchFamily="34" charset="-122"/>
                <a:cs typeface="Calibri" pitchFamily="34" charset="-120"/>
              </a:rPr>
              <a:t>We never manually define meanings. The corpus defines them. If "awful" starts appearing near "terrible" instead of "sublime", its meaning has changed — and we can measure it.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Domain &amp; Research Questions</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Research Questions</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
        <p:nvSpPr>
          <p:cNvPr id="8" name="Shape 6"/>
          <p:cNvSpPr/>
          <p:nvPr/>
        </p:nvSpPr>
        <p:spPr>
          <a:xfrm>
            <a:off x="365760" y="822960"/>
            <a:ext cx="3291840" cy="1097280"/>
          </a:xfrm>
          <a:prstGeom prst="rect">
            <a:avLst/>
          </a:prstGeom>
          <a:solidFill>
            <a:srgbClr val="1E3A5F"/>
          </a:solidFill>
          <a:ln w="19050">
            <a:solidFill>
              <a:srgbClr val="0891B2"/>
            </a:solidFill>
            <a:prstDash val="solid"/>
          </a:ln>
        </p:spPr>
      </p:sp>
      <p:sp>
        <p:nvSpPr>
          <p:cNvPr id="9" name="Text 7"/>
          <p:cNvSpPr/>
          <p:nvPr/>
        </p:nvSpPr>
        <p:spPr>
          <a:xfrm>
            <a:off x="457200" y="868680"/>
            <a:ext cx="3108960" cy="274320"/>
          </a:xfrm>
          <a:prstGeom prst="rect">
            <a:avLst/>
          </a:prstGeom>
          <a:noFill/>
          <a:ln/>
        </p:spPr>
        <p:txBody>
          <a:bodyPr wrap="square" rtlCol="0" anchor="ctr"/>
          <a:lstStyle/>
          <a:p>
            <a:pPr marL="0" indent="0">
              <a:buNone/>
            </a:pPr>
            <a:r>
              <a:rPr lang="en-US" sz="1300" b="1" dirty="0">
                <a:solidFill>
                  <a:srgbClr val="0891B2"/>
                </a:solidFill>
                <a:latin typeface="Calibri" pitchFamily="34" charset="0"/>
                <a:ea typeface="Calibri" pitchFamily="34" charset="-122"/>
                <a:cs typeface="Calibri" pitchFamily="34" charset="-120"/>
              </a:rPr>
              <a:t>📚 Project Gutenberg</a:t>
            </a:r>
            <a:endParaRPr lang="en-US" sz="1300" dirty="0"/>
          </a:p>
        </p:txBody>
      </p:sp>
      <p:sp>
        <p:nvSpPr>
          <p:cNvPr id="10" name="Text 8"/>
          <p:cNvSpPr/>
          <p:nvPr/>
        </p:nvSpPr>
        <p:spPr>
          <a:xfrm>
            <a:off x="457200" y="1143000"/>
            <a:ext cx="3108960" cy="713232"/>
          </a:xfrm>
          <a:prstGeom prst="rect">
            <a:avLst/>
          </a:prstGeom>
          <a:noFill/>
          <a:ln/>
        </p:spPr>
        <p:txBody>
          <a:bodyPr wrap="square" rtlCol="0" anchor="t"/>
          <a:lstStyle/>
          <a:p>
            <a:pPr marL="0" indent="0">
              <a:buNone/>
            </a:pPr>
            <a:r>
              <a:rPr lang="en-US" sz="1100" dirty="0">
                <a:solidFill>
                  <a:srgbClr val="FFFFFF"/>
                </a:solidFill>
                <a:latin typeface="Calibri" pitchFamily="34" charset="0"/>
                <a:ea typeface="Calibri" pitchFamily="34" charset="-122"/>
                <a:cs typeface="Calibri" pitchFamily="34" charset="-120"/>
              </a:rPr>
              <a:t>70,000+ public-domain books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1800 – 1980 | 9 literary periods</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100% free — no licence required</a:t>
            </a:r>
            <a:endParaRPr lang="en-US" sz="1100" dirty="0"/>
          </a:p>
        </p:txBody>
      </p:sp>
      <p:sp>
        <p:nvSpPr>
          <p:cNvPr id="11" name="Shape 9"/>
          <p:cNvSpPr/>
          <p:nvPr/>
        </p:nvSpPr>
        <p:spPr>
          <a:xfrm>
            <a:off x="3931920" y="822960"/>
            <a:ext cx="502920" cy="320040"/>
          </a:xfrm>
          <a:prstGeom prst="rect">
            <a:avLst/>
          </a:prstGeom>
          <a:solidFill>
            <a:srgbClr val="0891B2"/>
          </a:solidFill>
          <a:ln/>
        </p:spPr>
      </p:sp>
      <p:sp>
        <p:nvSpPr>
          <p:cNvPr id="12" name="Text 10"/>
          <p:cNvSpPr/>
          <p:nvPr/>
        </p:nvSpPr>
        <p:spPr>
          <a:xfrm>
            <a:off x="3931920" y="822960"/>
            <a:ext cx="50292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RQ1</a:t>
            </a:r>
            <a:endParaRPr lang="en-US" sz="900" dirty="0"/>
          </a:p>
        </p:txBody>
      </p:sp>
      <p:sp>
        <p:nvSpPr>
          <p:cNvPr id="13" name="Shape 11"/>
          <p:cNvSpPr/>
          <p:nvPr/>
        </p:nvSpPr>
        <p:spPr>
          <a:xfrm>
            <a:off x="4480560" y="822960"/>
            <a:ext cx="4297680" cy="320040"/>
          </a:xfrm>
          <a:prstGeom prst="rect">
            <a:avLst/>
          </a:prstGeom>
          <a:solidFill>
            <a:srgbClr val="FFFFFF"/>
          </a:solidFill>
          <a:ln w="6350">
            <a:solidFill>
              <a:srgbClr val="CBD5E1"/>
            </a:solidFill>
            <a:prstDash val="solid"/>
          </a:ln>
        </p:spPr>
      </p:sp>
      <p:sp>
        <p:nvSpPr>
          <p:cNvPr id="14" name="Text 12"/>
          <p:cNvSpPr/>
          <p:nvPr/>
        </p:nvSpPr>
        <p:spPr>
          <a:xfrm>
            <a:off x="4572000" y="832104"/>
            <a:ext cx="4114800" cy="301752"/>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Which words changed meaning most between the 1800s and 1960s?</a:t>
            </a:r>
            <a:endParaRPr lang="en-US" sz="1100" dirty="0"/>
          </a:p>
        </p:txBody>
      </p:sp>
      <p:sp>
        <p:nvSpPr>
          <p:cNvPr id="15" name="Shape 13"/>
          <p:cNvSpPr/>
          <p:nvPr/>
        </p:nvSpPr>
        <p:spPr>
          <a:xfrm>
            <a:off x="3931920" y="1618488"/>
            <a:ext cx="502920" cy="320040"/>
          </a:xfrm>
          <a:prstGeom prst="rect">
            <a:avLst/>
          </a:prstGeom>
          <a:solidFill>
            <a:srgbClr val="0891B2"/>
          </a:solidFill>
          <a:ln/>
        </p:spPr>
      </p:sp>
      <p:sp>
        <p:nvSpPr>
          <p:cNvPr id="16" name="Text 14"/>
          <p:cNvSpPr/>
          <p:nvPr/>
        </p:nvSpPr>
        <p:spPr>
          <a:xfrm>
            <a:off x="3931920" y="1618488"/>
            <a:ext cx="50292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RQ2</a:t>
            </a:r>
            <a:endParaRPr lang="en-US" sz="900" dirty="0"/>
          </a:p>
        </p:txBody>
      </p:sp>
      <p:sp>
        <p:nvSpPr>
          <p:cNvPr id="17" name="Shape 15"/>
          <p:cNvSpPr/>
          <p:nvPr/>
        </p:nvSpPr>
        <p:spPr>
          <a:xfrm>
            <a:off x="4480560" y="1618488"/>
            <a:ext cx="4297680" cy="320040"/>
          </a:xfrm>
          <a:prstGeom prst="rect">
            <a:avLst/>
          </a:prstGeom>
          <a:solidFill>
            <a:srgbClr val="FFFFFF"/>
          </a:solidFill>
          <a:ln w="6350">
            <a:solidFill>
              <a:srgbClr val="CBD5E1"/>
            </a:solidFill>
            <a:prstDash val="solid"/>
          </a:ln>
        </p:spPr>
      </p:sp>
      <p:sp>
        <p:nvSpPr>
          <p:cNvPr id="18" name="Text 16"/>
          <p:cNvSpPr/>
          <p:nvPr/>
        </p:nvSpPr>
        <p:spPr>
          <a:xfrm>
            <a:off x="4572000" y="1627632"/>
            <a:ext cx="4114800" cy="301752"/>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For the top 5 changers — what specific shift occurred?</a:t>
            </a:r>
            <a:endParaRPr lang="en-US" sz="1100" dirty="0"/>
          </a:p>
        </p:txBody>
      </p:sp>
      <p:sp>
        <p:nvSpPr>
          <p:cNvPr id="19" name="Shape 17"/>
          <p:cNvSpPr/>
          <p:nvPr/>
        </p:nvSpPr>
        <p:spPr>
          <a:xfrm>
            <a:off x="3931920" y="2414016"/>
            <a:ext cx="502920" cy="320040"/>
          </a:xfrm>
          <a:prstGeom prst="rect">
            <a:avLst/>
          </a:prstGeom>
          <a:solidFill>
            <a:srgbClr val="0891B2"/>
          </a:solidFill>
          <a:ln/>
        </p:spPr>
      </p:sp>
      <p:sp>
        <p:nvSpPr>
          <p:cNvPr id="20" name="Text 18"/>
          <p:cNvSpPr/>
          <p:nvPr/>
        </p:nvSpPr>
        <p:spPr>
          <a:xfrm>
            <a:off x="3931920" y="2414016"/>
            <a:ext cx="50292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RQ3</a:t>
            </a:r>
            <a:endParaRPr lang="en-US" sz="900" dirty="0"/>
          </a:p>
        </p:txBody>
      </p:sp>
      <p:sp>
        <p:nvSpPr>
          <p:cNvPr id="21" name="Shape 19"/>
          <p:cNvSpPr/>
          <p:nvPr/>
        </p:nvSpPr>
        <p:spPr>
          <a:xfrm>
            <a:off x="4480560" y="2414016"/>
            <a:ext cx="4297680" cy="320040"/>
          </a:xfrm>
          <a:prstGeom prst="rect">
            <a:avLst/>
          </a:prstGeom>
          <a:solidFill>
            <a:srgbClr val="FFFFFF"/>
          </a:solidFill>
          <a:ln w="6350">
            <a:solidFill>
              <a:srgbClr val="CBD5E1"/>
            </a:solidFill>
            <a:prstDash val="solid"/>
          </a:ln>
        </p:spPr>
      </p:sp>
      <p:sp>
        <p:nvSpPr>
          <p:cNvPr id="22" name="Text 20"/>
          <p:cNvSpPr/>
          <p:nvPr/>
        </p:nvSpPr>
        <p:spPr>
          <a:xfrm>
            <a:off x="4572000" y="2423160"/>
            <a:ext cx="4114800" cy="301752"/>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How did target evolve across 9 periods?</a:t>
            </a:r>
            <a:endParaRPr lang="en-US" sz="1100" dirty="0"/>
          </a:p>
        </p:txBody>
      </p:sp>
      <p:sp>
        <p:nvSpPr>
          <p:cNvPr id="23" name="Shape 21"/>
          <p:cNvSpPr/>
          <p:nvPr/>
        </p:nvSpPr>
        <p:spPr>
          <a:xfrm>
            <a:off x="3931920" y="3209544"/>
            <a:ext cx="502920" cy="320040"/>
          </a:xfrm>
          <a:prstGeom prst="rect">
            <a:avLst/>
          </a:prstGeom>
          <a:solidFill>
            <a:srgbClr val="0891B2"/>
          </a:solidFill>
          <a:ln/>
        </p:spPr>
      </p:sp>
      <p:sp>
        <p:nvSpPr>
          <p:cNvPr id="24" name="Text 22"/>
          <p:cNvSpPr/>
          <p:nvPr/>
        </p:nvSpPr>
        <p:spPr>
          <a:xfrm>
            <a:off x="3931920" y="3209544"/>
            <a:ext cx="50292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RQ4</a:t>
            </a:r>
            <a:endParaRPr lang="en-US" sz="900" dirty="0"/>
          </a:p>
        </p:txBody>
      </p:sp>
      <p:sp>
        <p:nvSpPr>
          <p:cNvPr id="25" name="Shape 23"/>
          <p:cNvSpPr/>
          <p:nvPr/>
        </p:nvSpPr>
        <p:spPr>
          <a:xfrm>
            <a:off x="4480560" y="3209544"/>
            <a:ext cx="4297680" cy="320040"/>
          </a:xfrm>
          <a:prstGeom prst="rect">
            <a:avLst/>
          </a:prstGeom>
          <a:solidFill>
            <a:srgbClr val="FFFFFF"/>
          </a:solidFill>
          <a:ln w="6350">
            <a:solidFill>
              <a:srgbClr val="CBD5E1"/>
            </a:solidFill>
            <a:prstDash val="solid"/>
          </a:ln>
        </p:spPr>
      </p:sp>
      <p:sp>
        <p:nvSpPr>
          <p:cNvPr id="26" name="Text 24"/>
          <p:cNvSpPr/>
          <p:nvPr/>
        </p:nvSpPr>
        <p:spPr>
          <a:xfrm>
            <a:off x="4572000" y="3218688"/>
            <a:ext cx="4114800" cy="301752"/>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Are agency adjectives more associated with male names in 19th-century literature?</a:t>
            </a:r>
            <a:endParaRPr lang="en-US" sz="1100" dirty="0"/>
          </a:p>
        </p:txBody>
      </p:sp>
      <p:sp>
        <p:nvSpPr>
          <p:cNvPr id="27" name="Shape 25"/>
          <p:cNvSpPr/>
          <p:nvPr/>
        </p:nvSpPr>
        <p:spPr>
          <a:xfrm>
            <a:off x="3931920" y="4005072"/>
            <a:ext cx="502920" cy="320040"/>
          </a:xfrm>
          <a:prstGeom prst="rect">
            <a:avLst/>
          </a:prstGeom>
          <a:solidFill>
            <a:srgbClr val="0891B2"/>
          </a:solidFill>
          <a:ln/>
        </p:spPr>
      </p:sp>
      <p:sp>
        <p:nvSpPr>
          <p:cNvPr id="28" name="Text 26"/>
          <p:cNvSpPr/>
          <p:nvPr/>
        </p:nvSpPr>
        <p:spPr>
          <a:xfrm>
            <a:off x="3931920" y="4005072"/>
            <a:ext cx="502920" cy="32004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RQ5</a:t>
            </a:r>
            <a:endParaRPr lang="en-US" sz="900" dirty="0"/>
          </a:p>
        </p:txBody>
      </p:sp>
      <p:sp>
        <p:nvSpPr>
          <p:cNvPr id="29" name="Shape 27"/>
          <p:cNvSpPr/>
          <p:nvPr/>
        </p:nvSpPr>
        <p:spPr>
          <a:xfrm>
            <a:off x="4480560" y="4005072"/>
            <a:ext cx="4297680" cy="320040"/>
          </a:xfrm>
          <a:prstGeom prst="rect">
            <a:avLst/>
          </a:prstGeom>
          <a:solidFill>
            <a:srgbClr val="FFFFFF"/>
          </a:solidFill>
          <a:ln w="6350">
            <a:solidFill>
              <a:srgbClr val="CBD5E1"/>
            </a:solidFill>
            <a:prstDash val="solid"/>
          </a:ln>
        </p:spPr>
      </p:sp>
      <p:sp>
        <p:nvSpPr>
          <p:cNvPr id="30" name="Text 28"/>
          <p:cNvSpPr/>
          <p:nvPr/>
        </p:nvSpPr>
        <p:spPr>
          <a:xfrm>
            <a:off x="4572000" y="4014216"/>
            <a:ext cx="4114800" cy="301752"/>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Has this gender bias changed from the 1800s to the 1960s?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The Gutenberg Corpus — Data Description</a:t>
            </a:r>
            <a:endParaRPr lang="en-US" sz="2200" dirty="0"/>
          </a:p>
        </p:txBody>
      </p:sp>
      <p:sp>
        <p:nvSpPr>
          <p:cNvPr id="11" name="Text 9"/>
          <p:cNvSpPr/>
          <p:nvPr/>
        </p:nvSpPr>
        <p:spPr>
          <a:xfrm>
            <a:off x="1371600" y="804672"/>
            <a:ext cx="12801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Years</a:t>
            </a:r>
            <a:endParaRPr lang="en-US" sz="900" dirty="0"/>
          </a:p>
        </p:txBody>
      </p:sp>
      <p:sp>
        <p:nvSpPr>
          <p:cNvPr id="19" name="Text 17"/>
          <p:cNvSpPr/>
          <p:nvPr/>
        </p:nvSpPr>
        <p:spPr>
          <a:xfrm>
            <a:off x="7680960" y="804672"/>
            <a:ext cx="1737360" cy="27432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Literary Era</a:t>
            </a:r>
            <a:endParaRPr lang="en-US" sz="900" dirty="0"/>
          </a:p>
        </p:txBody>
      </p:sp>
      <p:graphicFrame>
        <p:nvGraphicFramePr>
          <p:cNvPr id="129" name="Table 128">
            <a:extLst>
              <a:ext uri="{FF2B5EF4-FFF2-40B4-BE49-F238E27FC236}">
                <a16:creationId xmlns:a16="http://schemas.microsoft.com/office/drawing/2014/main" id="{17911B75-A511-DC72-4EB1-4931297DD35E}"/>
              </a:ext>
            </a:extLst>
          </p:cNvPr>
          <p:cNvGraphicFramePr>
            <a:graphicFrameLocks noGrp="1"/>
          </p:cNvGraphicFramePr>
          <p:nvPr>
            <p:extLst>
              <p:ext uri="{D42A27DB-BD31-4B8C-83A1-F6EECF244321}">
                <p14:modId xmlns:p14="http://schemas.microsoft.com/office/powerpoint/2010/main" val="1019233626"/>
              </p:ext>
            </p:extLst>
          </p:nvPr>
        </p:nvGraphicFramePr>
        <p:xfrm>
          <a:off x="365760" y="943428"/>
          <a:ext cx="8412480" cy="3998683"/>
        </p:xfrm>
        <a:graphic>
          <a:graphicData uri="http://schemas.openxmlformats.org/drawingml/2006/table">
            <a:tbl>
              <a:tblPr firstRow="1" firstCol="1" bandRow="1"/>
              <a:tblGrid>
                <a:gridCol w="1485644">
                  <a:extLst>
                    <a:ext uri="{9D8B030D-6E8A-4147-A177-3AD203B41FA5}">
                      <a16:colId xmlns:a16="http://schemas.microsoft.com/office/drawing/2014/main" val="2081802754"/>
                    </a:ext>
                  </a:extLst>
                </a:gridCol>
                <a:gridCol w="2018995">
                  <a:extLst>
                    <a:ext uri="{9D8B030D-6E8A-4147-A177-3AD203B41FA5}">
                      <a16:colId xmlns:a16="http://schemas.microsoft.com/office/drawing/2014/main" val="1966962418"/>
                    </a:ext>
                  </a:extLst>
                </a:gridCol>
                <a:gridCol w="3198424">
                  <a:extLst>
                    <a:ext uri="{9D8B030D-6E8A-4147-A177-3AD203B41FA5}">
                      <a16:colId xmlns:a16="http://schemas.microsoft.com/office/drawing/2014/main" val="3669604939"/>
                    </a:ext>
                  </a:extLst>
                </a:gridCol>
                <a:gridCol w="1709417">
                  <a:extLst>
                    <a:ext uri="{9D8B030D-6E8A-4147-A177-3AD203B41FA5}">
                      <a16:colId xmlns:a16="http://schemas.microsoft.com/office/drawing/2014/main" val="3066070705"/>
                    </a:ext>
                  </a:extLst>
                </a:gridCol>
              </a:tblGrid>
              <a:tr h="342893">
                <a:tc>
                  <a:txBody>
                    <a:bodyPr/>
                    <a:lstStyle/>
                    <a:p>
                      <a:pPr marL="0" marR="0" algn="just">
                        <a:lnSpc>
                          <a:spcPct val="107000"/>
                        </a:lnSpc>
                        <a:spcBef>
                          <a:spcPts val="1200"/>
                        </a:spcBef>
                        <a:spcAft>
                          <a:spcPts val="1200"/>
                        </a:spcAft>
                        <a:buNone/>
                      </a:pPr>
                      <a:r>
                        <a:rPr lang="en-US" sz="100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Period</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546A"/>
                    </a:solidFill>
                  </a:tcPr>
                </a:tc>
                <a:tc>
                  <a:txBody>
                    <a:bodyPr/>
                    <a:lstStyle/>
                    <a:p>
                      <a:pPr marL="0" marR="0" algn="just">
                        <a:lnSpc>
                          <a:spcPct val="107000"/>
                        </a:lnSpc>
                        <a:spcBef>
                          <a:spcPts val="1200"/>
                        </a:spcBef>
                        <a:spcAft>
                          <a:spcPts val="1200"/>
                        </a:spcAft>
                        <a:buNone/>
                      </a:pPr>
                      <a:r>
                        <a:rPr lang="en-US" sz="100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Years</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546A"/>
                    </a:solidFill>
                  </a:tcPr>
                </a:tc>
                <a:tc>
                  <a:txBody>
                    <a:bodyPr/>
                    <a:lstStyle/>
                    <a:p>
                      <a:pPr marL="0" marR="0" algn="just">
                        <a:lnSpc>
                          <a:spcPct val="107000"/>
                        </a:lnSpc>
                        <a:spcBef>
                          <a:spcPts val="1200"/>
                        </a:spcBef>
                        <a:spcAft>
                          <a:spcPts val="1200"/>
                        </a:spcAft>
                        <a:buNone/>
                      </a:pPr>
                      <a:r>
                        <a:rPr lang="en-US" sz="100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Words as tokens</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546A"/>
                    </a:solidFill>
                  </a:tcPr>
                </a:tc>
                <a:tc>
                  <a:txBody>
                    <a:bodyPr/>
                    <a:lstStyle/>
                    <a:p>
                      <a:pPr marL="0" marR="0" algn="just">
                        <a:lnSpc>
                          <a:spcPct val="107000"/>
                        </a:lnSpc>
                        <a:spcBef>
                          <a:spcPts val="1200"/>
                        </a:spcBef>
                        <a:spcAft>
                          <a:spcPts val="1200"/>
                        </a:spcAft>
                        <a:buNone/>
                      </a:pPr>
                      <a:r>
                        <a:rPr lang="en-US" sz="100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Size Mb</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546A"/>
                    </a:solidFill>
                  </a:tcPr>
                </a:tc>
                <a:extLst>
                  <a:ext uri="{0D108BD9-81ED-4DB2-BD59-A6C34878D82A}">
                    <a16:rowId xmlns:a16="http://schemas.microsoft.com/office/drawing/2014/main" val="1628372079"/>
                  </a:ext>
                </a:extLst>
              </a:tr>
              <a:tr h="365579">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1800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1800 - 1820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20,901,482</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123.4</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754429045"/>
                  </a:ext>
                </a:extLst>
              </a:tr>
              <a:tr h="365579">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1820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1820 - 1840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18,975,659</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110.6</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111966969"/>
                  </a:ext>
                </a:extLst>
              </a:tr>
              <a:tr h="365579">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1840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1840 - 1860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16,584,831</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96.2</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865993243"/>
                  </a:ext>
                </a:extLst>
              </a:tr>
              <a:tr h="365579">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1860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1860 - 1880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18,979,728</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109.3</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441241864"/>
                  </a:ext>
                </a:extLst>
              </a:tr>
              <a:tr h="365579">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1880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1880 - 1900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14,833,402</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86.3</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387756824"/>
                  </a:ext>
                </a:extLst>
              </a:tr>
              <a:tr h="365579">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1900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1900 - 1920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12,329,124</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71.1</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271188264"/>
                  </a:ext>
                </a:extLst>
              </a:tr>
              <a:tr h="365579">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1920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1920 - 1940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12,330,238</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71.5</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2189587681"/>
                  </a:ext>
                </a:extLst>
              </a:tr>
              <a:tr h="365579">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1940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1940 -1960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6,379,717</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37.8</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306596378"/>
                  </a:ext>
                </a:extLst>
              </a:tr>
              <a:tr h="365579">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1960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8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1960 – 180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3,729,334</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just">
                        <a:lnSpc>
                          <a:spcPct val="107000"/>
                        </a:lnSpc>
                        <a:spcBef>
                          <a:spcPts val="1200"/>
                        </a:spcBef>
                        <a:spcAft>
                          <a:spcPts val="1200"/>
                        </a:spcAft>
                        <a:buNone/>
                      </a:pPr>
                      <a:r>
                        <a:rPr lang="en-US" sz="1000">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22.6</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756927314"/>
                  </a:ext>
                </a:extLst>
              </a:tr>
              <a:tr h="365579">
                <a:tc>
                  <a:txBody>
                    <a:bodyPr/>
                    <a:lstStyle/>
                    <a:p>
                      <a:pPr marL="0" marR="0" algn="just">
                        <a:lnSpc>
                          <a:spcPct val="107000"/>
                        </a:lnSpc>
                        <a:spcBef>
                          <a:spcPts val="1200"/>
                        </a:spcBef>
                        <a:spcAft>
                          <a:spcPts val="1200"/>
                        </a:spcAft>
                        <a:buNone/>
                      </a:pPr>
                      <a:r>
                        <a:rPr lang="en-US" sz="800" b="1">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TOTAL</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800" b="1">
                          <a:solidFill>
                            <a:srgbClr val="323E4F"/>
                          </a:solidFill>
                          <a:effectLst/>
                          <a:latin typeface="Calibri" panose="020F0502020204030204" pitchFamily="34" charset="0"/>
                          <a:ea typeface="Times New Roman" panose="02020603050405020304" pitchFamily="18" charset="0"/>
                          <a:cs typeface="Calibri" panose="020F0502020204030204" pitchFamily="34" charset="0"/>
                        </a:rPr>
                        <a:t>1800 - 1980</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800" b="1">
                          <a:solidFill>
                            <a:srgbClr val="0F172A"/>
                          </a:solidFill>
                          <a:effectLst/>
                          <a:latin typeface="Calibri" panose="020F0502020204030204" pitchFamily="34" charset="0"/>
                          <a:ea typeface="Times New Roman" panose="02020603050405020304" pitchFamily="18" charset="0"/>
                          <a:cs typeface="Calibri" panose="020F0502020204030204" pitchFamily="34" charset="0"/>
                        </a:rPr>
                        <a:t>125,043,515</a:t>
                      </a:r>
                      <a:endParaRPr lang="en-US" sz="10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just">
                        <a:lnSpc>
                          <a:spcPct val="107000"/>
                        </a:lnSpc>
                        <a:spcBef>
                          <a:spcPts val="1200"/>
                        </a:spcBef>
                        <a:spcAft>
                          <a:spcPts val="1200"/>
                        </a:spcAft>
                        <a:buNone/>
                      </a:pPr>
                      <a:r>
                        <a:rPr lang="en-US" sz="800" b="1" dirty="0">
                          <a:solidFill>
                            <a:srgbClr val="0F172A"/>
                          </a:solidFill>
                          <a:effectLst/>
                          <a:latin typeface="Calibri" panose="020F0502020204030204" pitchFamily="34" charset="0"/>
                          <a:ea typeface="Times New Roman" panose="02020603050405020304" pitchFamily="18" charset="0"/>
                          <a:cs typeface="Calibri" panose="020F0502020204030204" pitchFamily="34" charset="0"/>
                        </a:rPr>
                        <a:t>728.8</a:t>
                      </a:r>
                      <a:endParaRPr lang="en-US" sz="1000" dirty="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57113" marR="57113" marT="0" marB="0" anchor="ctr">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44001523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Preprocessing Pipeline</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Methodology</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
        <p:nvSpPr>
          <p:cNvPr id="8" name="Shape 6"/>
          <p:cNvSpPr/>
          <p:nvPr/>
        </p:nvSpPr>
        <p:spPr>
          <a:xfrm>
            <a:off x="365760" y="960120"/>
            <a:ext cx="1508760" cy="2468880"/>
          </a:xfrm>
          <a:prstGeom prst="rect">
            <a:avLst/>
          </a:prstGeom>
          <a:solidFill>
            <a:srgbClr val="FFFFFF"/>
          </a:solidFill>
          <a:ln w="19050">
            <a:solidFill>
              <a:srgbClr val="0891B2"/>
            </a:solidFill>
            <a:prstDash val="solid"/>
          </a:ln>
          <a:effectLst>
            <a:outerShdw blurRad="50800" dist="25400" dir="8100000" algn="bl" rotWithShape="0">
              <a:srgbClr val="000000">
                <a:alpha val="8000"/>
              </a:srgbClr>
            </a:outerShdw>
          </a:effectLst>
        </p:spPr>
      </p:sp>
      <p:sp>
        <p:nvSpPr>
          <p:cNvPr id="9" name="Shape 7"/>
          <p:cNvSpPr/>
          <p:nvPr/>
        </p:nvSpPr>
        <p:spPr>
          <a:xfrm>
            <a:off x="822960" y="1024128"/>
            <a:ext cx="594360" cy="594360"/>
          </a:xfrm>
          <a:prstGeom prst="ellipse">
            <a:avLst/>
          </a:prstGeom>
          <a:solidFill>
            <a:srgbClr val="0891B2"/>
          </a:solidFill>
          <a:ln/>
        </p:spPr>
      </p:sp>
      <p:sp>
        <p:nvSpPr>
          <p:cNvPr id="10" name="Text 8"/>
          <p:cNvSpPr/>
          <p:nvPr/>
        </p:nvSpPr>
        <p:spPr>
          <a:xfrm>
            <a:off x="822960" y="1024128"/>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11" name="Text 9"/>
          <p:cNvSpPr/>
          <p:nvPr/>
        </p:nvSpPr>
        <p:spPr>
          <a:xfrm>
            <a:off x="438912" y="1682496"/>
            <a:ext cx="1362456" cy="347472"/>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DOWNLOAD</a:t>
            </a:r>
            <a:endParaRPr lang="en-US" sz="1000" dirty="0"/>
          </a:p>
        </p:txBody>
      </p:sp>
      <p:sp>
        <p:nvSpPr>
          <p:cNvPr id="12" name="Text 10"/>
          <p:cNvSpPr/>
          <p:nvPr/>
        </p:nvSpPr>
        <p:spPr>
          <a:xfrm>
            <a:off x="438912" y="2066544"/>
            <a:ext cx="1362456" cy="128016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pg_catalog.csv + book texts via requests library</a:t>
            </a:r>
            <a:endParaRPr lang="en-US" sz="950" dirty="0"/>
          </a:p>
        </p:txBody>
      </p:sp>
      <p:sp>
        <p:nvSpPr>
          <p:cNvPr id="13" name="Text 11"/>
          <p:cNvSpPr/>
          <p:nvPr/>
        </p:nvSpPr>
        <p:spPr>
          <a:xfrm>
            <a:off x="1874520" y="1920240"/>
            <a:ext cx="182880" cy="548640"/>
          </a:xfrm>
          <a:prstGeom prst="rect">
            <a:avLst/>
          </a:prstGeom>
          <a:noFill/>
          <a:ln/>
        </p:spPr>
        <p:txBody>
          <a:bodyPr wrap="square" rtlCol="0" anchor="ctr"/>
          <a:lstStyle/>
          <a:p>
            <a:pPr marL="0" indent="0" algn="ctr">
              <a:buNone/>
            </a:pPr>
            <a:r>
              <a:rPr lang="en-US" sz="1600" b="1" dirty="0">
                <a:solidFill>
                  <a:srgbClr val="0891B2"/>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2057400" y="960120"/>
            <a:ext cx="1508760" cy="2468880"/>
          </a:xfrm>
          <a:prstGeom prst="rect">
            <a:avLst/>
          </a:prstGeom>
          <a:solidFill>
            <a:srgbClr val="FFFFFF"/>
          </a:solidFill>
          <a:ln w="19050">
            <a:solidFill>
              <a:srgbClr val="0891B2"/>
            </a:solidFill>
            <a:prstDash val="solid"/>
          </a:ln>
          <a:effectLst>
            <a:outerShdw blurRad="50800" dist="25400" dir="8100000" algn="bl" rotWithShape="0">
              <a:srgbClr val="000000">
                <a:alpha val="8000"/>
              </a:srgbClr>
            </a:outerShdw>
          </a:effectLst>
        </p:spPr>
      </p:sp>
      <p:sp>
        <p:nvSpPr>
          <p:cNvPr id="15" name="Shape 13"/>
          <p:cNvSpPr/>
          <p:nvPr/>
        </p:nvSpPr>
        <p:spPr>
          <a:xfrm>
            <a:off x="2514600" y="1024128"/>
            <a:ext cx="594360" cy="594360"/>
          </a:xfrm>
          <a:prstGeom prst="ellipse">
            <a:avLst/>
          </a:prstGeom>
          <a:solidFill>
            <a:srgbClr val="0891B2"/>
          </a:solidFill>
          <a:ln/>
        </p:spPr>
      </p:sp>
      <p:sp>
        <p:nvSpPr>
          <p:cNvPr id="16" name="Text 14"/>
          <p:cNvSpPr/>
          <p:nvPr/>
        </p:nvSpPr>
        <p:spPr>
          <a:xfrm>
            <a:off x="2514600" y="1024128"/>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7" name="Text 15"/>
          <p:cNvSpPr/>
          <p:nvPr/>
        </p:nvSpPr>
        <p:spPr>
          <a:xfrm>
            <a:off x="2130552" y="1682496"/>
            <a:ext cx="1362456" cy="347472"/>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STRIP BOILERPLATE</a:t>
            </a:r>
            <a:endParaRPr lang="en-US" sz="1000" dirty="0"/>
          </a:p>
        </p:txBody>
      </p:sp>
      <p:sp>
        <p:nvSpPr>
          <p:cNvPr id="18" name="Text 16"/>
          <p:cNvSpPr/>
          <p:nvPr/>
        </p:nvSpPr>
        <p:spPr>
          <a:xfrm>
            <a:off x="2130552" y="2066544"/>
            <a:ext cx="1362456" cy="128016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Remove Gutenberg legal headers &amp; footers using sentinel markers</a:t>
            </a:r>
            <a:endParaRPr lang="en-US" sz="950" dirty="0"/>
          </a:p>
        </p:txBody>
      </p:sp>
      <p:sp>
        <p:nvSpPr>
          <p:cNvPr id="19" name="Text 17"/>
          <p:cNvSpPr/>
          <p:nvPr/>
        </p:nvSpPr>
        <p:spPr>
          <a:xfrm>
            <a:off x="3566160" y="1920240"/>
            <a:ext cx="182880" cy="548640"/>
          </a:xfrm>
          <a:prstGeom prst="rect">
            <a:avLst/>
          </a:prstGeom>
          <a:noFill/>
          <a:ln/>
        </p:spPr>
        <p:txBody>
          <a:bodyPr wrap="square" rtlCol="0" anchor="ctr"/>
          <a:lstStyle/>
          <a:p>
            <a:pPr marL="0" indent="0" algn="ctr">
              <a:buNone/>
            </a:pPr>
            <a:r>
              <a:rPr lang="en-US" sz="1600" b="1" dirty="0">
                <a:solidFill>
                  <a:srgbClr val="0891B2"/>
                </a:solidFill>
                <a:latin typeface="Calibri" pitchFamily="34" charset="0"/>
                <a:ea typeface="Calibri" pitchFamily="34" charset="-122"/>
                <a:cs typeface="Calibri" pitchFamily="34" charset="-120"/>
              </a:rPr>
              <a:t>→</a:t>
            </a:r>
            <a:endParaRPr lang="en-US" sz="1600" dirty="0"/>
          </a:p>
        </p:txBody>
      </p:sp>
      <p:sp>
        <p:nvSpPr>
          <p:cNvPr id="20" name="Shape 18"/>
          <p:cNvSpPr/>
          <p:nvPr/>
        </p:nvSpPr>
        <p:spPr>
          <a:xfrm>
            <a:off x="3749040" y="960120"/>
            <a:ext cx="1508760" cy="2468880"/>
          </a:xfrm>
          <a:prstGeom prst="rect">
            <a:avLst/>
          </a:prstGeom>
          <a:solidFill>
            <a:srgbClr val="FFFFFF"/>
          </a:solidFill>
          <a:ln w="19050">
            <a:solidFill>
              <a:srgbClr val="0891B2"/>
            </a:solidFill>
            <a:prstDash val="solid"/>
          </a:ln>
          <a:effectLst>
            <a:outerShdw blurRad="50800" dist="25400" dir="8100000" algn="bl" rotWithShape="0">
              <a:srgbClr val="000000">
                <a:alpha val="8000"/>
              </a:srgbClr>
            </a:outerShdw>
          </a:effectLst>
        </p:spPr>
      </p:sp>
      <p:sp>
        <p:nvSpPr>
          <p:cNvPr id="21" name="Shape 19"/>
          <p:cNvSpPr/>
          <p:nvPr/>
        </p:nvSpPr>
        <p:spPr>
          <a:xfrm>
            <a:off x="4206240" y="1024128"/>
            <a:ext cx="594360" cy="594360"/>
          </a:xfrm>
          <a:prstGeom prst="ellipse">
            <a:avLst/>
          </a:prstGeom>
          <a:solidFill>
            <a:srgbClr val="0891B2"/>
          </a:solidFill>
          <a:ln/>
        </p:spPr>
      </p:sp>
      <p:sp>
        <p:nvSpPr>
          <p:cNvPr id="22" name="Text 20"/>
          <p:cNvSpPr/>
          <p:nvPr/>
        </p:nvSpPr>
        <p:spPr>
          <a:xfrm>
            <a:off x="4206240" y="1024128"/>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23" name="Text 21"/>
          <p:cNvSpPr/>
          <p:nvPr/>
        </p:nvSpPr>
        <p:spPr>
          <a:xfrm>
            <a:off x="3822192" y="1682496"/>
            <a:ext cx="1362456" cy="347472"/>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LOWERCASE</a:t>
            </a:r>
            <a:endParaRPr lang="en-US" sz="1000" dirty="0"/>
          </a:p>
        </p:txBody>
      </p:sp>
      <p:sp>
        <p:nvSpPr>
          <p:cNvPr id="24" name="Text 22"/>
          <p:cNvSpPr/>
          <p:nvPr/>
        </p:nvSpPr>
        <p:spPr>
          <a:xfrm>
            <a:off x="3822192" y="2066544"/>
            <a:ext cx="1362456" cy="128016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Normalise all text to lower case</a:t>
            </a:r>
            <a:endParaRPr lang="en-US" sz="950" dirty="0"/>
          </a:p>
        </p:txBody>
      </p:sp>
      <p:sp>
        <p:nvSpPr>
          <p:cNvPr id="25" name="Text 23"/>
          <p:cNvSpPr/>
          <p:nvPr/>
        </p:nvSpPr>
        <p:spPr>
          <a:xfrm>
            <a:off x="5257800" y="1920240"/>
            <a:ext cx="182880" cy="548640"/>
          </a:xfrm>
          <a:prstGeom prst="rect">
            <a:avLst/>
          </a:prstGeom>
          <a:noFill/>
          <a:ln/>
        </p:spPr>
        <p:txBody>
          <a:bodyPr wrap="square" rtlCol="0" anchor="ctr"/>
          <a:lstStyle/>
          <a:p>
            <a:pPr marL="0" indent="0" algn="ctr">
              <a:buNone/>
            </a:pPr>
            <a:r>
              <a:rPr lang="en-US" sz="1600" b="1" dirty="0">
                <a:solidFill>
                  <a:srgbClr val="0891B2"/>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5440680" y="960120"/>
            <a:ext cx="1508760" cy="2468880"/>
          </a:xfrm>
          <a:prstGeom prst="rect">
            <a:avLst/>
          </a:prstGeom>
          <a:solidFill>
            <a:srgbClr val="FFFFFF"/>
          </a:solidFill>
          <a:ln w="19050">
            <a:solidFill>
              <a:srgbClr val="0891B2"/>
            </a:solidFill>
            <a:prstDash val="solid"/>
          </a:ln>
          <a:effectLst>
            <a:outerShdw blurRad="50800" dist="25400" dir="8100000" algn="bl" rotWithShape="0">
              <a:srgbClr val="000000">
                <a:alpha val="8000"/>
              </a:srgbClr>
            </a:outerShdw>
          </a:effectLst>
        </p:spPr>
      </p:sp>
      <p:sp>
        <p:nvSpPr>
          <p:cNvPr id="27" name="Shape 25"/>
          <p:cNvSpPr/>
          <p:nvPr/>
        </p:nvSpPr>
        <p:spPr>
          <a:xfrm>
            <a:off x="5897880" y="1024128"/>
            <a:ext cx="594360" cy="594360"/>
          </a:xfrm>
          <a:prstGeom prst="ellipse">
            <a:avLst/>
          </a:prstGeom>
          <a:solidFill>
            <a:srgbClr val="0891B2"/>
          </a:solidFill>
          <a:ln/>
        </p:spPr>
      </p:sp>
      <p:sp>
        <p:nvSpPr>
          <p:cNvPr id="28" name="Text 26"/>
          <p:cNvSpPr/>
          <p:nvPr/>
        </p:nvSpPr>
        <p:spPr>
          <a:xfrm>
            <a:off x="5897880" y="1024128"/>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9" name="Text 27"/>
          <p:cNvSpPr/>
          <p:nvPr/>
        </p:nvSpPr>
        <p:spPr>
          <a:xfrm>
            <a:off x="5513832" y="1682496"/>
            <a:ext cx="1362456" cy="347472"/>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CLEAN</a:t>
            </a:r>
            <a:endParaRPr lang="en-US" sz="1000" dirty="0"/>
          </a:p>
        </p:txBody>
      </p:sp>
      <p:sp>
        <p:nvSpPr>
          <p:cNvPr id="30" name="Text 28"/>
          <p:cNvSpPr/>
          <p:nvPr/>
        </p:nvSpPr>
        <p:spPr>
          <a:xfrm>
            <a:off x="5513832" y="2066544"/>
            <a:ext cx="1362456" cy="128016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Remove punctuation, digits, tokens ≤ 2 chars</a:t>
            </a:r>
            <a:endParaRPr lang="en-US" sz="950" dirty="0"/>
          </a:p>
        </p:txBody>
      </p:sp>
      <p:sp>
        <p:nvSpPr>
          <p:cNvPr id="31" name="Text 29"/>
          <p:cNvSpPr/>
          <p:nvPr/>
        </p:nvSpPr>
        <p:spPr>
          <a:xfrm>
            <a:off x="6949440" y="1920240"/>
            <a:ext cx="182880" cy="548640"/>
          </a:xfrm>
          <a:prstGeom prst="rect">
            <a:avLst/>
          </a:prstGeom>
          <a:noFill/>
          <a:ln/>
        </p:spPr>
        <p:txBody>
          <a:bodyPr wrap="square" rtlCol="0" anchor="ctr"/>
          <a:lstStyle/>
          <a:p>
            <a:pPr marL="0" indent="0" algn="ctr">
              <a:buNone/>
            </a:pPr>
            <a:r>
              <a:rPr lang="en-US" sz="1600" b="1" dirty="0">
                <a:solidFill>
                  <a:srgbClr val="0891B2"/>
                </a:solidFill>
                <a:latin typeface="Calibri" pitchFamily="34" charset="0"/>
                <a:ea typeface="Calibri" pitchFamily="34" charset="-122"/>
                <a:cs typeface="Calibri" pitchFamily="34" charset="-120"/>
              </a:rPr>
              <a:t>→</a:t>
            </a:r>
            <a:endParaRPr lang="en-US" sz="1600" dirty="0"/>
          </a:p>
        </p:txBody>
      </p:sp>
      <p:sp>
        <p:nvSpPr>
          <p:cNvPr id="32" name="Shape 30"/>
          <p:cNvSpPr/>
          <p:nvPr/>
        </p:nvSpPr>
        <p:spPr>
          <a:xfrm>
            <a:off x="7132320" y="960120"/>
            <a:ext cx="1508760" cy="2468880"/>
          </a:xfrm>
          <a:prstGeom prst="rect">
            <a:avLst/>
          </a:prstGeom>
          <a:solidFill>
            <a:srgbClr val="FFFFFF"/>
          </a:solidFill>
          <a:ln w="19050">
            <a:solidFill>
              <a:srgbClr val="0891B2"/>
            </a:solidFill>
            <a:prstDash val="solid"/>
          </a:ln>
          <a:effectLst>
            <a:outerShdw blurRad="50800" dist="25400" dir="8100000" algn="bl" rotWithShape="0">
              <a:srgbClr val="000000">
                <a:alpha val="8000"/>
              </a:srgbClr>
            </a:outerShdw>
          </a:effectLst>
        </p:spPr>
      </p:sp>
      <p:sp>
        <p:nvSpPr>
          <p:cNvPr id="33" name="Shape 31"/>
          <p:cNvSpPr/>
          <p:nvPr/>
        </p:nvSpPr>
        <p:spPr>
          <a:xfrm>
            <a:off x="7589520" y="1024128"/>
            <a:ext cx="594360" cy="594360"/>
          </a:xfrm>
          <a:prstGeom prst="ellipse">
            <a:avLst/>
          </a:prstGeom>
          <a:solidFill>
            <a:srgbClr val="0891B2"/>
          </a:solidFill>
          <a:ln/>
        </p:spPr>
      </p:sp>
      <p:sp>
        <p:nvSpPr>
          <p:cNvPr id="34" name="Text 32"/>
          <p:cNvSpPr/>
          <p:nvPr/>
        </p:nvSpPr>
        <p:spPr>
          <a:xfrm>
            <a:off x="7589520" y="1024128"/>
            <a:ext cx="594360" cy="59436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35" name="Text 33"/>
          <p:cNvSpPr/>
          <p:nvPr/>
        </p:nvSpPr>
        <p:spPr>
          <a:xfrm>
            <a:off x="7205472" y="1682496"/>
            <a:ext cx="1362456" cy="347472"/>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CHUNK</a:t>
            </a:r>
            <a:endParaRPr lang="en-US" sz="1000" dirty="0"/>
          </a:p>
        </p:txBody>
      </p:sp>
      <p:sp>
        <p:nvSpPr>
          <p:cNvPr id="36" name="Text 34"/>
          <p:cNvSpPr/>
          <p:nvPr/>
        </p:nvSpPr>
        <p:spPr>
          <a:xfrm>
            <a:off x="7205472" y="2066544"/>
            <a:ext cx="1362456" cy="1280160"/>
          </a:xfrm>
          <a:prstGeom prst="rect">
            <a:avLst/>
          </a:prstGeom>
          <a:noFill/>
          <a:ln/>
        </p:spPr>
        <p:txBody>
          <a:bodyPr wrap="square" rtlCol="0" anchor="ctr"/>
          <a:lstStyle/>
          <a:p>
            <a:pPr marL="0" indent="0" algn="ctr">
              <a:buNone/>
            </a:pPr>
            <a:r>
              <a:rPr lang="en-US" sz="950" dirty="0">
                <a:solidFill>
                  <a:srgbClr val="64748B"/>
                </a:solidFill>
                <a:latin typeface="Calibri" pitchFamily="34" charset="0"/>
                <a:ea typeface="Calibri" pitchFamily="34" charset="-122"/>
                <a:cs typeface="Calibri" pitchFamily="34" charset="-120"/>
              </a:rPr>
              <a:t>Split token stream into 20-token pseudo-sentences</a:t>
            </a:r>
            <a:endParaRPr lang="en-US" sz="950" dirty="0"/>
          </a:p>
        </p:txBody>
      </p:sp>
      <p:sp>
        <p:nvSpPr>
          <p:cNvPr id="37" name="Shape 35"/>
          <p:cNvSpPr/>
          <p:nvPr/>
        </p:nvSpPr>
        <p:spPr>
          <a:xfrm>
            <a:off x="365760" y="3611880"/>
            <a:ext cx="8412480" cy="777240"/>
          </a:xfrm>
          <a:prstGeom prst="rect">
            <a:avLst/>
          </a:prstGeom>
          <a:solidFill>
            <a:srgbClr val="1E3A5F"/>
          </a:solidFill>
          <a:ln/>
        </p:spPr>
      </p:sp>
      <p:sp>
        <p:nvSpPr>
          <p:cNvPr id="38" name="Text 36"/>
          <p:cNvSpPr/>
          <p:nvPr/>
        </p:nvSpPr>
        <p:spPr>
          <a:xfrm>
            <a:off x="502920" y="3630168"/>
            <a:ext cx="8229600" cy="740664"/>
          </a:xfrm>
          <a:prstGeom prst="rect">
            <a:avLst/>
          </a:prstGeom>
          <a:noFill/>
          <a:ln/>
        </p:spPr>
        <p:txBody>
          <a:bodyPr wrap="square" rtlCol="0" anchor="ctr"/>
          <a:lstStyle/>
          <a:p>
            <a:pPr marL="0" indent="0">
              <a:buNone/>
            </a:pPr>
            <a:r>
              <a:rPr lang="en-US" sz="1100" dirty="0">
                <a:solidFill>
                  <a:srgbClr val="CBD5E1"/>
                </a:solidFill>
                <a:latin typeface="Calibri" pitchFamily="34" charset="0"/>
                <a:ea typeface="Calibri" pitchFamily="34" charset="-122"/>
                <a:cs typeface="Calibri" pitchFamily="34" charset="-120"/>
              </a:rPr>
              <a:t>⚠  Stopwords are NOT removed — they provide essential contextual signals for Word2Vec. The sentence "she was a brave and noble woman" trains the association between "brave" and female-gender contexts through the co-occurrence with "she" and "woman".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Word2Vec — Skip-gram Model</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Methodology</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
        <p:nvSpPr>
          <p:cNvPr id="8" name="Shape 6"/>
          <p:cNvSpPr/>
          <p:nvPr/>
        </p:nvSpPr>
        <p:spPr>
          <a:xfrm>
            <a:off x="365760" y="841248"/>
            <a:ext cx="5120640" cy="2057400"/>
          </a:xfrm>
          <a:prstGeom prst="rect">
            <a:avLst/>
          </a:prstGeom>
          <a:solidFill>
            <a:srgbClr val="FFFFFF"/>
          </a:solidFill>
          <a:ln w="12700">
            <a:solidFill>
              <a:srgbClr val="CBD5E1"/>
            </a:solidFill>
            <a:prstDash val="solid"/>
          </a:ln>
        </p:spPr>
      </p:sp>
      <p:sp>
        <p:nvSpPr>
          <p:cNvPr id="9" name="Text 7"/>
          <p:cNvSpPr/>
          <p:nvPr/>
        </p:nvSpPr>
        <p:spPr>
          <a:xfrm>
            <a:off x="457200" y="886968"/>
            <a:ext cx="4937760" cy="274320"/>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How Skip-gram Works</a:t>
            </a:r>
            <a:endParaRPr lang="en-US" sz="1200" dirty="0"/>
          </a:p>
        </p:txBody>
      </p:sp>
      <p:sp>
        <p:nvSpPr>
          <p:cNvPr id="10" name="Text 8"/>
          <p:cNvSpPr/>
          <p:nvPr/>
        </p:nvSpPr>
        <p:spPr>
          <a:xfrm>
            <a:off x="457200" y="1207008"/>
            <a:ext cx="4937760" cy="201168"/>
          </a:xfrm>
          <a:prstGeom prst="rect">
            <a:avLst/>
          </a:prstGeom>
          <a:noFill/>
          <a:ln/>
        </p:spPr>
        <p:txBody>
          <a:bodyPr wrap="square" rtlCol="0" anchor="ctr"/>
          <a:lstStyle/>
          <a:p>
            <a:pPr marL="0" indent="0">
              <a:buNone/>
            </a:pPr>
            <a:r>
              <a:rPr lang="en-US" sz="1000" i="1" dirty="0">
                <a:solidFill>
                  <a:srgbClr val="64748B"/>
                </a:solidFill>
                <a:latin typeface="Calibri" pitchFamily="34" charset="0"/>
                <a:ea typeface="Calibri" pitchFamily="34" charset="-122"/>
                <a:cs typeface="Calibri" pitchFamily="34" charset="-120"/>
              </a:rPr>
              <a:t>Context window (size 5)</a:t>
            </a:r>
            <a:endParaRPr lang="en-US" sz="1000" dirty="0"/>
          </a:p>
        </p:txBody>
      </p:sp>
      <p:sp>
        <p:nvSpPr>
          <p:cNvPr id="11" name="Shape 9"/>
          <p:cNvSpPr/>
          <p:nvPr/>
        </p:nvSpPr>
        <p:spPr>
          <a:xfrm>
            <a:off x="502920" y="1444752"/>
            <a:ext cx="777240" cy="347472"/>
          </a:xfrm>
          <a:prstGeom prst="rect">
            <a:avLst/>
          </a:prstGeom>
          <a:solidFill>
            <a:srgbClr val="CBD5E1"/>
          </a:solidFill>
          <a:ln w="12700">
            <a:solidFill>
              <a:srgbClr val="0891B2"/>
            </a:solidFill>
            <a:prstDash val="solid"/>
          </a:ln>
        </p:spPr>
      </p:sp>
      <p:sp>
        <p:nvSpPr>
          <p:cNvPr id="12" name="Text 10"/>
          <p:cNvSpPr/>
          <p:nvPr/>
        </p:nvSpPr>
        <p:spPr>
          <a:xfrm>
            <a:off x="502920" y="1444752"/>
            <a:ext cx="777240" cy="347472"/>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She</a:t>
            </a:r>
            <a:endParaRPr lang="en-US" sz="1100" dirty="0"/>
          </a:p>
        </p:txBody>
      </p:sp>
      <p:sp>
        <p:nvSpPr>
          <p:cNvPr id="13" name="Shape 11"/>
          <p:cNvSpPr/>
          <p:nvPr/>
        </p:nvSpPr>
        <p:spPr>
          <a:xfrm>
            <a:off x="1417320" y="1444752"/>
            <a:ext cx="777240" cy="347472"/>
          </a:xfrm>
          <a:prstGeom prst="rect">
            <a:avLst/>
          </a:prstGeom>
          <a:solidFill>
            <a:srgbClr val="CBD5E1"/>
          </a:solidFill>
          <a:ln w="12700">
            <a:solidFill>
              <a:srgbClr val="0891B2"/>
            </a:solidFill>
            <a:prstDash val="solid"/>
          </a:ln>
        </p:spPr>
      </p:sp>
      <p:sp>
        <p:nvSpPr>
          <p:cNvPr id="14" name="Text 12"/>
          <p:cNvSpPr/>
          <p:nvPr/>
        </p:nvSpPr>
        <p:spPr>
          <a:xfrm>
            <a:off x="1417320" y="1444752"/>
            <a:ext cx="777240" cy="347472"/>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was</a:t>
            </a:r>
            <a:endParaRPr lang="en-US" sz="1100" dirty="0"/>
          </a:p>
        </p:txBody>
      </p:sp>
      <p:sp>
        <p:nvSpPr>
          <p:cNvPr id="15" name="Shape 13"/>
          <p:cNvSpPr/>
          <p:nvPr/>
        </p:nvSpPr>
        <p:spPr>
          <a:xfrm>
            <a:off x="2331720" y="1444752"/>
            <a:ext cx="777240" cy="347472"/>
          </a:xfrm>
          <a:prstGeom prst="rect">
            <a:avLst/>
          </a:prstGeom>
          <a:solidFill>
            <a:srgbClr val="0891B2"/>
          </a:solidFill>
          <a:ln w="12700">
            <a:solidFill>
              <a:srgbClr val="0891B2"/>
            </a:solidFill>
            <a:prstDash val="solid"/>
          </a:ln>
        </p:spPr>
      </p:sp>
      <p:sp>
        <p:nvSpPr>
          <p:cNvPr id="16" name="Text 14"/>
          <p:cNvSpPr/>
          <p:nvPr/>
        </p:nvSpPr>
        <p:spPr>
          <a:xfrm>
            <a:off x="2331720" y="1444752"/>
            <a:ext cx="77724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brave</a:t>
            </a:r>
            <a:endParaRPr lang="en-US" sz="1100" dirty="0"/>
          </a:p>
        </p:txBody>
      </p:sp>
      <p:sp>
        <p:nvSpPr>
          <p:cNvPr id="17" name="Shape 15"/>
          <p:cNvSpPr/>
          <p:nvPr/>
        </p:nvSpPr>
        <p:spPr>
          <a:xfrm>
            <a:off x="3246120" y="1444752"/>
            <a:ext cx="777240" cy="347472"/>
          </a:xfrm>
          <a:prstGeom prst="rect">
            <a:avLst/>
          </a:prstGeom>
          <a:solidFill>
            <a:srgbClr val="CBD5E1"/>
          </a:solidFill>
          <a:ln w="12700">
            <a:solidFill>
              <a:srgbClr val="0891B2"/>
            </a:solidFill>
            <a:prstDash val="solid"/>
          </a:ln>
        </p:spPr>
      </p:sp>
      <p:sp>
        <p:nvSpPr>
          <p:cNvPr id="18" name="Text 16"/>
          <p:cNvSpPr/>
          <p:nvPr/>
        </p:nvSpPr>
        <p:spPr>
          <a:xfrm>
            <a:off x="3246120" y="1444752"/>
            <a:ext cx="777240" cy="347472"/>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and</a:t>
            </a:r>
            <a:endParaRPr lang="en-US" sz="1100" dirty="0"/>
          </a:p>
        </p:txBody>
      </p:sp>
      <p:sp>
        <p:nvSpPr>
          <p:cNvPr id="19" name="Shape 17"/>
          <p:cNvSpPr/>
          <p:nvPr/>
        </p:nvSpPr>
        <p:spPr>
          <a:xfrm>
            <a:off x="4160520" y="1444752"/>
            <a:ext cx="777240" cy="347472"/>
          </a:xfrm>
          <a:prstGeom prst="rect">
            <a:avLst/>
          </a:prstGeom>
          <a:solidFill>
            <a:srgbClr val="CBD5E1"/>
          </a:solidFill>
          <a:ln w="12700">
            <a:solidFill>
              <a:srgbClr val="0891B2"/>
            </a:solidFill>
            <a:prstDash val="solid"/>
          </a:ln>
        </p:spPr>
      </p:sp>
      <p:sp>
        <p:nvSpPr>
          <p:cNvPr id="20" name="Text 18"/>
          <p:cNvSpPr/>
          <p:nvPr/>
        </p:nvSpPr>
        <p:spPr>
          <a:xfrm>
            <a:off x="4160520" y="1444752"/>
            <a:ext cx="777240" cy="347472"/>
          </a:xfrm>
          <a:prstGeom prst="rect">
            <a:avLst/>
          </a:prstGeom>
          <a:noFill/>
          <a:ln/>
        </p:spPr>
        <p:txBody>
          <a:bodyPr wrap="square"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noble</a:t>
            </a:r>
            <a:endParaRPr lang="en-US" sz="1100" dirty="0"/>
          </a:p>
        </p:txBody>
      </p:sp>
      <p:sp>
        <p:nvSpPr>
          <p:cNvPr id="21" name="Text 19"/>
          <p:cNvSpPr/>
          <p:nvPr/>
        </p:nvSpPr>
        <p:spPr>
          <a:xfrm>
            <a:off x="457200" y="1874520"/>
            <a:ext cx="4937760" cy="292608"/>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Centre word: "brave"  →  predict context: "She", "was", "and", "noble"</a:t>
            </a:r>
            <a:endParaRPr lang="en-US" sz="1000" dirty="0"/>
          </a:p>
        </p:txBody>
      </p:sp>
      <p:sp>
        <p:nvSpPr>
          <p:cNvPr id="22" name="Text 20"/>
          <p:cNvSpPr/>
          <p:nvPr/>
        </p:nvSpPr>
        <p:spPr>
          <a:xfrm>
            <a:off x="457200" y="2194560"/>
            <a:ext cx="4937760" cy="59436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After millions of such examples, vectors for "brave" and "noble" end up pointing in similar directions → high cosine similarity → semantically related.</a:t>
            </a:r>
            <a:endParaRPr lang="en-US" sz="1000" dirty="0"/>
          </a:p>
        </p:txBody>
      </p:sp>
      <p:sp>
        <p:nvSpPr>
          <p:cNvPr id="23" name="Text 21"/>
          <p:cNvSpPr/>
          <p:nvPr/>
        </p:nvSpPr>
        <p:spPr>
          <a:xfrm>
            <a:off x="5760720" y="886968"/>
            <a:ext cx="3108960" cy="274320"/>
          </a:xfrm>
          <a:prstGeom prst="rect">
            <a:avLst/>
          </a:prstGeom>
          <a:noFill/>
          <a:ln/>
        </p:spPr>
        <p:txBody>
          <a:bodyPr wrap="square"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Hyperparameters</a:t>
            </a:r>
            <a:endParaRPr lang="en-US" sz="1200" dirty="0"/>
          </a:p>
        </p:txBody>
      </p:sp>
      <p:sp>
        <p:nvSpPr>
          <p:cNvPr id="24" name="Shape 22"/>
          <p:cNvSpPr/>
          <p:nvPr/>
        </p:nvSpPr>
        <p:spPr>
          <a:xfrm>
            <a:off x="5760720" y="1207008"/>
            <a:ext cx="3108960" cy="420624"/>
          </a:xfrm>
          <a:prstGeom prst="rect">
            <a:avLst/>
          </a:prstGeom>
          <a:solidFill>
            <a:srgbClr val="E8F4FD"/>
          </a:solidFill>
          <a:ln w="6350">
            <a:solidFill>
              <a:srgbClr val="CBD5E1"/>
            </a:solidFill>
            <a:prstDash val="solid"/>
          </a:ln>
        </p:spPr>
      </p:sp>
      <p:sp>
        <p:nvSpPr>
          <p:cNvPr id="25" name="Text 23"/>
          <p:cNvSpPr/>
          <p:nvPr/>
        </p:nvSpPr>
        <p:spPr>
          <a:xfrm>
            <a:off x="5833872" y="1207008"/>
            <a:ext cx="1188720" cy="420624"/>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vector_size</a:t>
            </a:r>
            <a:endParaRPr lang="en-US" sz="1000" dirty="0"/>
          </a:p>
        </p:txBody>
      </p:sp>
      <p:sp>
        <p:nvSpPr>
          <p:cNvPr id="26" name="Text 24"/>
          <p:cNvSpPr/>
          <p:nvPr/>
        </p:nvSpPr>
        <p:spPr>
          <a:xfrm>
            <a:off x="7040880" y="1207008"/>
            <a:ext cx="548640" cy="420624"/>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200</a:t>
            </a:r>
            <a:endParaRPr lang="en-US" sz="1000" dirty="0"/>
          </a:p>
        </p:txBody>
      </p:sp>
      <p:sp>
        <p:nvSpPr>
          <p:cNvPr id="27" name="Text 25"/>
          <p:cNvSpPr/>
          <p:nvPr/>
        </p:nvSpPr>
        <p:spPr>
          <a:xfrm>
            <a:off x="7607808" y="1207008"/>
            <a:ext cx="1170432" cy="42062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Each word = 200 numbers</a:t>
            </a:r>
            <a:endParaRPr lang="en-US" sz="900" dirty="0"/>
          </a:p>
        </p:txBody>
      </p:sp>
      <p:sp>
        <p:nvSpPr>
          <p:cNvPr id="28" name="Shape 26"/>
          <p:cNvSpPr/>
          <p:nvPr/>
        </p:nvSpPr>
        <p:spPr>
          <a:xfrm>
            <a:off x="5760720" y="1682496"/>
            <a:ext cx="3108960" cy="420624"/>
          </a:xfrm>
          <a:prstGeom prst="rect">
            <a:avLst/>
          </a:prstGeom>
          <a:solidFill>
            <a:srgbClr val="FFFFFF"/>
          </a:solidFill>
          <a:ln w="6350">
            <a:solidFill>
              <a:srgbClr val="CBD5E1"/>
            </a:solidFill>
            <a:prstDash val="solid"/>
          </a:ln>
        </p:spPr>
      </p:sp>
      <p:sp>
        <p:nvSpPr>
          <p:cNvPr id="29" name="Text 27"/>
          <p:cNvSpPr/>
          <p:nvPr/>
        </p:nvSpPr>
        <p:spPr>
          <a:xfrm>
            <a:off x="5833872" y="1682496"/>
            <a:ext cx="1188720" cy="420624"/>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window</a:t>
            </a:r>
            <a:endParaRPr lang="en-US" sz="1000" dirty="0"/>
          </a:p>
        </p:txBody>
      </p:sp>
      <p:sp>
        <p:nvSpPr>
          <p:cNvPr id="30" name="Text 28"/>
          <p:cNvSpPr/>
          <p:nvPr/>
        </p:nvSpPr>
        <p:spPr>
          <a:xfrm>
            <a:off x="7040880" y="1682496"/>
            <a:ext cx="548640" cy="420624"/>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5</a:t>
            </a:r>
            <a:endParaRPr lang="en-US" sz="1000" dirty="0"/>
          </a:p>
        </p:txBody>
      </p:sp>
      <p:sp>
        <p:nvSpPr>
          <p:cNvPr id="31" name="Text 29"/>
          <p:cNvSpPr/>
          <p:nvPr/>
        </p:nvSpPr>
        <p:spPr>
          <a:xfrm>
            <a:off x="7607808" y="1682496"/>
            <a:ext cx="1170432" cy="42062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5 words each side</a:t>
            </a:r>
            <a:endParaRPr lang="en-US" sz="900" dirty="0"/>
          </a:p>
        </p:txBody>
      </p:sp>
      <p:sp>
        <p:nvSpPr>
          <p:cNvPr id="32" name="Shape 30"/>
          <p:cNvSpPr/>
          <p:nvPr/>
        </p:nvSpPr>
        <p:spPr>
          <a:xfrm>
            <a:off x="5760720" y="2157984"/>
            <a:ext cx="3108960" cy="420624"/>
          </a:xfrm>
          <a:prstGeom prst="rect">
            <a:avLst/>
          </a:prstGeom>
          <a:solidFill>
            <a:srgbClr val="E8F4FD"/>
          </a:solidFill>
          <a:ln w="6350">
            <a:solidFill>
              <a:srgbClr val="CBD5E1"/>
            </a:solidFill>
            <a:prstDash val="solid"/>
          </a:ln>
        </p:spPr>
      </p:sp>
      <p:sp>
        <p:nvSpPr>
          <p:cNvPr id="33" name="Text 31"/>
          <p:cNvSpPr/>
          <p:nvPr/>
        </p:nvSpPr>
        <p:spPr>
          <a:xfrm>
            <a:off x="5833872" y="2157984"/>
            <a:ext cx="1188720" cy="420624"/>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min_count</a:t>
            </a:r>
            <a:endParaRPr lang="en-US" sz="1000" dirty="0"/>
          </a:p>
        </p:txBody>
      </p:sp>
      <p:sp>
        <p:nvSpPr>
          <p:cNvPr id="34" name="Text 32"/>
          <p:cNvSpPr/>
          <p:nvPr/>
        </p:nvSpPr>
        <p:spPr>
          <a:xfrm>
            <a:off x="7040880" y="2157984"/>
            <a:ext cx="548640" cy="420624"/>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5</a:t>
            </a:r>
            <a:endParaRPr lang="en-US" sz="1000" dirty="0"/>
          </a:p>
        </p:txBody>
      </p:sp>
      <p:sp>
        <p:nvSpPr>
          <p:cNvPr id="35" name="Text 33"/>
          <p:cNvSpPr/>
          <p:nvPr/>
        </p:nvSpPr>
        <p:spPr>
          <a:xfrm>
            <a:off x="7607808" y="2157984"/>
            <a:ext cx="1170432" cy="42062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Filter rare words</a:t>
            </a:r>
            <a:endParaRPr lang="en-US" sz="900" dirty="0"/>
          </a:p>
        </p:txBody>
      </p:sp>
      <p:sp>
        <p:nvSpPr>
          <p:cNvPr id="36" name="Shape 34"/>
          <p:cNvSpPr/>
          <p:nvPr/>
        </p:nvSpPr>
        <p:spPr>
          <a:xfrm>
            <a:off x="5760720" y="2633472"/>
            <a:ext cx="3108960" cy="420624"/>
          </a:xfrm>
          <a:prstGeom prst="rect">
            <a:avLst/>
          </a:prstGeom>
          <a:solidFill>
            <a:srgbClr val="FFFFFF"/>
          </a:solidFill>
          <a:ln w="6350">
            <a:solidFill>
              <a:srgbClr val="CBD5E1"/>
            </a:solidFill>
            <a:prstDash val="solid"/>
          </a:ln>
        </p:spPr>
      </p:sp>
      <p:sp>
        <p:nvSpPr>
          <p:cNvPr id="37" name="Text 35"/>
          <p:cNvSpPr/>
          <p:nvPr/>
        </p:nvSpPr>
        <p:spPr>
          <a:xfrm>
            <a:off x="5833872" y="2633472"/>
            <a:ext cx="1188720" cy="420624"/>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sg</a:t>
            </a:r>
            <a:endParaRPr lang="en-US" sz="1000" dirty="0"/>
          </a:p>
        </p:txBody>
      </p:sp>
      <p:sp>
        <p:nvSpPr>
          <p:cNvPr id="38" name="Text 36"/>
          <p:cNvSpPr/>
          <p:nvPr/>
        </p:nvSpPr>
        <p:spPr>
          <a:xfrm>
            <a:off x="7040880" y="2633472"/>
            <a:ext cx="548640" cy="420624"/>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1</a:t>
            </a:r>
            <a:endParaRPr lang="en-US" sz="1000" dirty="0"/>
          </a:p>
        </p:txBody>
      </p:sp>
      <p:sp>
        <p:nvSpPr>
          <p:cNvPr id="39" name="Text 37"/>
          <p:cNvSpPr/>
          <p:nvPr/>
        </p:nvSpPr>
        <p:spPr>
          <a:xfrm>
            <a:off x="7607808" y="2633472"/>
            <a:ext cx="1170432" cy="42062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Skip-gram (not CBOW)</a:t>
            </a:r>
            <a:endParaRPr lang="en-US" sz="900" dirty="0"/>
          </a:p>
        </p:txBody>
      </p:sp>
      <p:sp>
        <p:nvSpPr>
          <p:cNvPr id="40" name="Shape 38"/>
          <p:cNvSpPr/>
          <p:nvPr/>
        </p:nvSpPr>
        <p:spPr>
          <a:xfrm>
            <a:off x="5760720" y="3108960"/>
            <a:ext cx="3108960" cy="420624"/>
          </a:xfrm>
          <a:prstGeom prst="rect">
            <a:avLst/>
          </a:prstGeom>
          <a:solidFill>
            <a:srgbClr val="E8F4FD"/>
          </a:solidFill>
          <a:ln w="6350">
            <a:solidFill>
              <a:srgbClr val="CBD5E1"/>
            </a:solidFill>
            <a:prstDash val="solid"/>
          </a:ln>
        </p:spPr>
      </p:sp>
      <p:sp>
        <p:nvSpPr>
          <p:cNvPr id="41" name="Text 39"/>
          <p:cNvSpPr/>
          <p:nvPr/>
        </p:nvSpPr>
        <p:spPr>
          <a:xfrm>
            <a:off x="5833872" y="3108960"/>
            <a:ext cx="1188720" cy="420624"/>
          </a:xfrm>
          <a:prstGeom prst="rect">
            <a:avLst/>
          </a:prstGeom>
          <a:noFill/>
          <a:ln/>
        </p:spPr>
        <p:txBody>
          <a:bodyPr wrap="square" rtlCol="0" anchor="ctr"/>
          <a:lstStyle/>
          <a:p>
            <a:pPr marL="0" indent="0">
              <a:buNone/>
            </a:pPr>
            <a:r>
              <a:rPr lang="en-US" sz="1000" b="1" dirty="0">
                <a:solidFill>
                  <a:srgbClr val="0891B2"/>
                </a:solidFill>
                <a:latin typeface="Calibri" pitchFamily="34" charset="0"/>
                <a:ea typeface="Calibri" pitchFamily="34" charset="-122"/>
                <a:cs typeface="Calibri" pitchFamily="34" charset="-120"/>
              </a:rPr>
              <a:t>epochs</a:t>
            </a:r>
            <a:endParaRPr lang="en-US" sz="1000" dirty="0"/>
          </a:p>
        </p:txBody>
      </p:sp>
      <p:sp>
        <p:nvSpPr>
          <p:cNvPr id="42" name="Text 40"/>
          <p:cNvSpPr/>
          <p:nvPr/>
        </p:nvSpPr>
        <p:spPr>
          <a:xfrm>
            <a:off x="7040880" y="3108960"/>
            <a:ext cx="548640" cy="420624"/>
          </a:xfrm>
          <a:prstGeom prst="rect">
            <a:avLst/>
          </a:prstGeom>
          <a:noFill/>
          <a:ln/>
        </p:spPr>
        <p:txBody>
          <a:bodyPr wrap="square" rtlCol="0" anchor="ctr"/>
          <a:lstStyle/>
          <a:p>
            <a:pPr marL="0" indent="0" algn="ctr">
              <a:buNone/>
            </a:pPr>
            <a:r>
              <a:rPr lang="en-US" sz="1000" b="1" dirty="0">
                <a:solidFill>
                  <a:srgbClr val="1E3A5F"/>
                </a:solidFill>
                <a:latin typeface="Calibri" pitchFamily="34" charset="0"/>
                <a:ea typeface="Calibri" pitchFamily="34" charset="-122"/>
                <a:cs typeface="Calibri" pitchFamily="34" charset="-120"/>
              </a:rPr>
              <a:t>5</a:t>
            </a:r>
            <a:endParaRPr lang="en-US" sz="1000" dirty="0"/>
          </a:p>
        </p:txBody>
      </p:sp>
      <p:sp>
        <p:nvSpPr>
          <p:cNvPr id="43" name="Text 41"/>
          <p:cNvSpPr/>
          <p:nvPr/>
        </p:nvSpPr>
        <p:spPr>
          <a:xfrm>
            <a:off x="7607808" y="3108960"/>
            <a:ext cx="1170432" cy="420624"/>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Training passes</a:t>
            </a:r>
            <a:endParaRPr lang="en-US" sz="900" dirty="0"/>
          </a:p>
        </p:txBody>
      </p:sp>
      <p:sp>
        <p:nvSpPr>
          <p:cNvPr id="44" name="Shape 42"/>
          <p:cNvSpPr/>
          <p:nvPr/>
        </p:nvSpPr>
        <p:spPr>
          <a:xfrm>
            <a:off x="365760" y="3063240"/>
            <a:ext cx="8412480" cy="502920"/>
          </a:xfrm>
          <a:prstGeom prst="rect">
            <a:avLst/>
          </a:prstGeom>
          <a:solidFill>
            <a:srgbClr val="1E3A5F"/>
          </a:solidFill>
          <a:ln/>
        </p:spPr>
      </p:sp>
      <p:sp>
        <p:nvSpPr>
          <p:cNvPr id="45" name="Text 43"/>
          <p:cNvSpPr/>
          <p:nvPr/>
        </p:nvSpPr>
        <p:spPr>
          <a:xfrm>
            <a:off x="502920" y="3081528"/>
            <a:ext cx="8229600" cy="466344"/>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Why Skip-gram over CBOW? Skip-gram generates more training examples per word and outperforms CBOW on rare vocabulary — critical for literary corpora with archaic, period-specific terms.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30" name="Shape 28"/>
          <p:cNvSpPr/>
          <p:nvPr/>
        </p:nvSpPr>
        <p:spPr>
          <a:xfrm>
            <a:off x="2148840" y="2377440"/>
            <a:ext cx="5696712" cy="0"/>
          </a:xfrm>
          <a:prstGeom prst="line">
            <a:avLst/>
          </a:prstGeom>
          <a:noFill/>
          <a:ln w="19050">
            <a:solidFill>
              <a:schemeClr val="accent2"/>
            </a:solidFill>
            <a:prstDash val="dash"/>
          </a:ln>
        </p:spPr>
      </p:sp>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CADE — Compass-Aligned Distributional Embeddings</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Methodology</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7</a:t>
            </a:r>
            <a:endParaRPr lang="en-US" sz="800" dirty="0"/>
          </a:p>
        </p:txBody>
      </p:sp>
      <p:sp>
        <p:nvSpPr>
          <p:cNvPr id="8" name="Shape 6"/>
          <p:cNvSpPr/>
          <p:nvPr/>
        </p:nvSpPr>
        <p:spPr>
          <a:xfrm>
            <a:off x="365760" y="841248"/>
            <a:ext cx="8412480" cy="530352"/>
          </a:xfrm>
          <a:prstGeom prst="rect">
            <a:avLst/>
          </a:prstGeom>
          <a:solidFill>
            <a:srgbClr val="FDECEA"/>
          </a:solidFill>
          <a:ln w="12700">
            <a:solidFill>
              <a:srgbClr val="DC2626"/>
            </a:solidFill>
            <a:prstDash val="solid"/>
          </a:ln>
        </p:spPr>
      </p:sp>
      <p:sp>
        <p:nvSpPr>
          <p:cNvPr id="9" name="Text 7"/>
          <p:cNvSpPr/>
          <p:nvPr/>
        </p:nvSpPr>
        <p:spPr>
          <a:xfrm>
            <a:off x="502920" y="859536"/>
            <a:ext cx="8229600" cy="493776"/>
          </a:xfrm>
          <a:prstGeom prst="rect">
            <a:avLst/>
          </a:prstGeom>
          <a:noFill/>
          <a:ln/>
        </p:spPr>
        <p:txBody>
          <a:bodyPr wrap="square" rtlCol="0" anchor="ctr"/>
          <a:lstStyle/>
          <a:p>
            <a:pPr marL="0" indent="0">
              <a:buNone/>
            </a:pPr>
            <a:r>
              <a:rPr lang="en-US" sz="1100" b="1" dirty="0">
                <a:solidFill>
                  <a:srgbClr val="DC2626"/>
                </a:solidFill>
                <a:latin typeface="Calibri" pitchFamily="34" charset="0"/>
                <a:ea typeface="Calibri" pitchFamily="34" charset="-122"/>
                <a:cs typeface="Calibri" pitchFamily="34" charset="-120"/>
              </a:rPr>
              <a:t>⚠  The problem:  Train Word2Vec separately on 1800s text and 1960s text → two different coordinate systems → cannot compare vectors directly!</a:t>
            </a:r>
            <a:endParaRPr lang="en-US" sz="1100" dirty="0"/>
          </a:p>
        </p:txBody>
      </p:sp>
      <p:sp>
        <p:nvSpPr>
          <p:cNvPr id="10" name="Shape 8"/>
          <p:cNvSpPr/>
          <p:nvPr/>
        </p:nvSpPr>
        <p:spPr>
          <a:xfrm>
            <a:off x="502919" y="1554480"/>
            <a:ext cx="8531353" cy="1645920"/>
          </a:xfrm>
          <a:prstGeom prst="roundRect">
            <a:avLst/>
          </a:prstGeom>
          <a:solidFill>
            <a:srgbClr val="1E3A5F"/>
          </a:solidFill>
          <a:ln/>
        </p:spPr>
      </p:sp>
      <p:sp>
        <p:nvSpPr>
          <p:cNvPr id="11" name="Text 9"/>
          <p:cNvSpPr/>
          <p:nvPr/>
        </p:nvSpPr>
        <p:spPr>
          <a:xfrm>
            <a:off x="502920" y="1554480"/>
            <a:ext cx="1645920" cy="1645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COMPASS</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Train on ALL</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decades →</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shared space</a:t>
            </a:r>
            <a:endParaRPr lang="en-US" sz="1000" dirty="0"/>
          </a:p>
        </p:txBody>
      </p:sp>
      <p:sp>
        <p:nvSpPr>
          <p:cNvPr id="12" name="Shape 10"/>
          <p:cNvSpPr/>
          <p:nvPr/>
        </p:nvSpPr>
        <p:spPr>
          <a:xfrm>
            <a:off x="2651760" y="1828800"/>
            <a:ext cx="1097280" cy="1097280"/>
          </a:xfrm>
          <a:prstGeom prst="rect">
            <a:avLst/>
          </a:prstGeom>
          <a:solidFill>
            <a:srgbClr val="0891B2"/>
          </a:solidFill>
          <a:ln w="12700">
            <a:solidFill>
              <a:srgbClr val="1E3A5F"/>
            </a:solidFill>
            <a:prstDash val="solid"/>
          </a:ln>
        </p:spPr>
      </p:sp>
      <p:sp>
        <p:nvSpPr>
          <p:cNvPr id="13" name="Text 11"/>
          <p:cNvSpPr/>
          <p:nvPr/>
        </p:nvSpPr>
        <p:spPr>
          <a:xfrm>
            <a:off x="2651760" y="1828800"/>
            <a:ext cx="1097280" cy="10972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Slice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1800s</a:t>
            </a:r>
            <a:endParaRPr lang="en-US" sz="1000" dirty="0"/>
          </a:p>
        </p:txBody>
      </p:sp>
      <p:sp>
        <p:nvSpPr>
          <p:cNvPr id="15" name="Text 13"/>
          <p:cNvSpPr/>
          <p:nvPr/>
        </p:nvSpPr>
        <p:spPr>
          <a:xfrm>
            <a:off x="2651760" y="1554480"/>
            <a:ext cx="1097280" cy="256032"/>
          </a:xfrm>
          <a:prstGeom prst="rect">
            <a:avLst/>
          </a:prstGeom>
          <a:noFill/>
          <a:ln/>
        </p:spPr>
        <p:txBody>
          <a:bodyPr wrap="square" rtlCol="0" anchor="ctr"/>
          <a:lstStyle/>
          <a:p>
            <a:pPr marL="0" indent="0" algn="ctr">
              <a:buNone/>
            </a:pPr>
            <a:r>
              <a:rPr lang="en-US" sz="800" i="1" dirty="0">
                <a:solidFill>
                  <a:schemeClr val="bg1"/>
                </a:solidFill>
                <a:latin typeface="Calibri" pitchFamily="34" charset="0"/>
                <a:ea typeface="Calibri" pitchFamily="34" charset="-122"/>
                <a:cs typeface="Calibri" pitchFamily="34" charset="-120"/>
              </a:rPr>
              <a:t>fine-tune ↓</a:t>
            </a:r>
            <a:endParaRPr lang="en-US" sz="800" dirty="0">
              <a:solidFill>
                <a:schemeClr val="bg1"/>
              </a:solidFill>
            </a:endParaRPr>
          </a:p>
        </p:txBody>
      </p:sp>
      <p:sp>
        <p:nvSpPr>
          <p:cNvPr id="16" name="Shape 14"/>
          <p:cNvSpPr/>
          <p:nvPr/>
        </p:nvSpPr>
        <p:spPr>
          <a:xfrm>
            <a:off x="3950208" y="1828800"/>
            <a:ext cx="1097280" cy="1097280"/>
          </a:xfrm>
          <a:prstGeom prst="rect">
            <a:avLst/>
          </a:prstGeom>
          <a:solidFill>
            <a:srgbClr val="0891B2"/>
          </a:solidFill>
          <a:ln w="12700">
            <a:solidFill>
              <a:srgbClr val="1E3A5F"/>
            </a:solidFill>
            <a:prstDash val="solid"/>
          </a:ln>
        </p:spPr>
      </p:sp>
      <p:sp>
        <p:nvSpPr>
          <p:cNvPr id="17" name="Text 15"/>
          <p:cNvSpPr/>
          <p:nvPr/>
        </p:nvSpPr>
        <p:spPr>
          <a:xfrm>
            <a:off x="3950208" y="1828800"/>
            <a:ext cx="1097280" cy="10972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Slice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1840s</a:t>
            </a:r>
            <a:endParaRPr lang="en-US" sz="1000" dirty="0"/>
          </a:p>
        </p:txBody>
      </p:sp>
      <p:sp>
        <p:nvSpPr>
          <p:cNvPr id="19" name="Text 17"/>
          <p:cNvSpPr/>
          <p:nvPr/>
        </p:nvSpPr>
        <p:spPr>
          <a:xfrm>
            <a:off x="3950208" y="1554480"/>
            <a:ext cx="1097280" cy="256032"/>
          </a:xfrm>
          <a:prstGeom prst="rect">
            <a:avLst/>
          </a:prstGeom>
          <a:noFill/>
          <a:ln/>
        </p:spPr>
        <p:txBody>
          <a:bodyPr wrap="square" rtlCol="0" anchor="ctr"/>
          <a:lstStyle/>
          <a:p>
            <a:pPr marL="0" indent="0" algn="ctr">
              <a:buNone/>
            </a:pPr>
            <a:r>
              <a:rPr lang="en-US" sz="800" i="1" dirty="0">
                <a:solidFill>
                  <a:schemeClr val="bg1"/>
                </a:solidFill>
                <a:latin typeface="Calibri" pitchFamily="34" charset="0"/>
                <a:ea typeface="Calibri" pitchFamily="34" charset="-122"/>
                <a:cs typeface="Calibri" pitchFamily="34" charset="-120"/>
              </a:rPr>
              <a:t>fine-tune ↓</a:t>
            </a:r>
            <a:endParaRPr lang="en-US" sz="800" dirty="0">
              <a:solidFill>
                <a:schemeClr val="bg1"/>
              </a:solidFill>
            </a:endParaRPr>
          </a:p>
        </p:txBody>
      </p:sp>
      <p:sp>
        <p:nvSpPr>
          <p:cNvPr id="20" name="Shape 18"/>
          <p:cNvSpPr/>
          <p:nvPr/>
        </p:nvSpPr>
        <p:spPr>
          <a:xfrm>
            <a:off x="5248656" y="1828800"/>
            <a:ext cx="1097280" cy="1097280"/>
          </a:xfrm>
          <a:prstGeom prst="rect">
            <a:avLst/>
          </a:prstGeom>
          <a:solidFill>
            <a:srgbClr val="0891B2"/>
          </a:solidFill>
          <a:ln w="12700">
            <a:solidFill>
              <a:srgbClr val="1E3A5F"/>
            </a:solidFill>
            <a:prstDash val="solid"/>
          </a:ln>
        </p:spPr>
      </p:sp>
      <p:sp>
        <p:nvSpPr>
          <p:cNvPr id="21" name="Text 19"/>
          <p:cNvSpPr/>
          <p:nvPr/>
        </p:nvSpPr>
        <p:spPr>
          <a:xfrm>
            <a:off x="5248656" y="1828800"/>
            <a:ext cx="1097280" cy="10972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Slice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1880s</a:t>
            </a:r>
            <a:endParaRPr lang="en-US" sz="1000" dirty="0"/>
          </a:p>
        </p:txBody>
      </p:sp>
      <p:sp>
        <p:nvSpPr>
          <p:cNvPr id="23" name="Text 21"/>
          <p:cNvSpPr/>
          <p:nvPr/>
        </p:nvSpPr>
        <p:spPr>
          <a:xfrm>
            <a:off x="5248656" y="1554480"/>
            <a:ext cx="1097280" cy="256032"/>
          </a:xfrm>
          <a:prstGeom prst="rect">
            <a:avLst/>
          </a:prstGeom>
          <a:noFill/>
          <a:ln/>
        </p:spPr>
        <p:txBody>
          <a:bodyPr wrap="square" rtlCol="0" anchor="ctr"/>
          <a:lstStyle/>
          <a:p>
            <a:pPr marL="0" indent="0" algn="ctr">
              <a:buNone/>
            </a:pPr>
            <a:r>
              <a:rPr lang="en-US" sz="800" i="1" dirty="0">
                <a:solidFill>
                  <a:schemeClr val="bg1"/>
                </a:solidFill>
                <a:latin typeface="Calibri" pitchFamily="34" charset="0"/>
                <a:ea typeface="Calibri" pitchFamily="34" charset="-122"/>
                <a:cs typeface="Calibri" pitchFamily="34" charset="-120"/>
              </a:rPr>
              <a:t>fine-tune ↓</a:t>
            </a:r>
            <a:endParaRPr lang="en-US" sz="800" dirty="0">
              <a:solidFill>
                <a:schemeClr val="bg1"/>
              </a:solidFill>
            </a:endParaRPr>
          </a:p>
        </p:txBody>
      </p:sp>
      <p:sp>
        <p:nvSpPr>
          <p:cNvPr id="24" name="Shape 22"/>
          <p:cNvSpPr/>
          <p:nvPr/>
        </p:nvSpPr>
        <p:spPr>
          <a:xfrm>
            <a:off x="6547104" y="1828800"/>
            <a:ext cx="1097280" cy="1097280"/>
          </a:xfrm>
          <a:prstGeom prst="rect">
            <a:avLst/>
          </a:prstGeom>
          <a:solidFill>
            <a:srgbClr val="0891B2"/>
          </a:solidFill>
          <a:ln w="12700">
            <a:solidFill>
              <a:srgbClr val="1E3A5F"/>
            </a:solidFill>
            <a:prstDash val="solid"/>
          </a:ln>
        </p:spPr>
      </p:sp>
      <p:sp>
        <p:nvSpPr>
          <p:cNvPr id="25" name="Text 23"/>
          <p:cNvSpPr/>
          <p:nvPr/>
        </p:nvSpPr>
        <p:spPr>
          <a:xfrm>
            <a:off x="6547104" y="1828800"/>
            <a:ext cx="1097280" cy="10972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Slice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1920s</a:t>
            </a:r>
            <a:endParaRPr lang="en-US" sz="1000" dirty="0"/>
          </a:p>
        </p:txBody>
      </p:sp>
      <p:sp>
        <p:nvSpPr>
          <p:cNvPr id="27" name="Text 25"/>
          <p:cNvSpPr/>
          <p:nvPr/>
        </p:nvSpPr>
        <p:spPr>
          <a:xfrm>
            <a:off x="6547104" y="1554480"/>
            <a:ext cx="1097280" cy="256032"/>
          </a:xfrm>
          <a:prstGeom prst="rect">
            <a:avLst/>
          </a:prstGeom>
          <a:noFill/>
          <a:ln/>
        </p:spPr>
        <p:txBody>
          <a:bodyPr wrap="square" rtlCol="0" anchor="ctr"/>
          <a:lstStyle/>
          <a:p>
            <a:pPr marL="0" indent="0" algn="ctr">
              <a:buNone/>
            </a:pPr>
            <a:r>
              <a:rPr lang="en-US" sz="800" i="1" dirty="0">
                <a:solidFill>
                  <a:schemeClr val="bg1"/>
                </a:solidFill>
                <a:latin typeface="Calibri" pitchFamily="34" charset="0"/>
                <a:ea typeface="Calibri" pitchFamily="34" charset="-122"/>
                <a:cs typeface="Calibri" pitchFamily="34" charset="-120"/>
              </a:rPr>
              <a:t>fine-tune ↓</a:t>
            </a:r>
            <a:endParaRPr lang="en-US" sz="800" dirty="0">
              <a:solidFill>
                <a:schemeClr val="bg1"/>
              </a:solidFill>
            </a:endParaRPr>
          </a:p>
        </p:txBody>
      </p:sp>
      <p:sp>
        <p:nvSpPr>
          <p:cNvPr id="28" name="Shape 26"/>
          <p:cNvSpPr/>
          <p:nvPr/>
        </p:nvSpPr>
        <p:spPr>
          <a:xfrm>
            <a:off x="7845552" y="1828800"/>
            <a:ext cx="1097280" cy="1097280"/>
          </a:xfrm>
          <a:prstGeom prst="rect">
            <a:avLst/>
          </a:prstGeom>
          <a:solidFill>
            <a:srgbClr val="0891B2"/>
          </a:solidFill>
          <a:ln w="12700">
            <a:solidFill>
              <a:srgbClr val="1E3A5F"/>
            </a:solidFill>
            <a:prstDash val="solid"/>
          </a:ln>
        </p:spPr>
      </p:sp>
      <p:sp>
        <p:nvSpPr>
          <p:cNvPr id="29" name="Text 27"/>
          <p:cNvSpPr/>
          <p:nvPr/>
        </p:nvSpPr>
        <p:spPr>
          <a:xfrm>
            <a:off x="7845552" y="1828800"/>
            <a:ext cx="1097280" cy="109728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Slice</a:t>
            </a:r>
            <a:endParaRPr lang="en-US" sz="1000" dirty="0"/>
          </a:p>
          <a:p>
            <a:pPr marL="0" indent="0" algn="ctr">
              <a:buNone/>
            </a:pPr>
            <a:r>
              <a:rPr lang="en-US" sz="1000" b="1" dirty="0">
                <a:solidFill>
                  <a:srgbClr val="FFFFFF"/>
                </a:solidFill>
                <a:latin typeface="Calibri" pitchFamily="34" charset="0"/>
                <a:ea typeface="Calibri" pitchFamily="34" charset="-122"/>
                <a:cs typeface="Calibri" pitchFamily="34" charset="-120"/>
              </a:rPr>
              <a:t>1960s</a:t>
            </a:r>
            <a:endParaRPr lang="en-US" sz="1000" dirty="0"/>
          </a:p>
        </p:txBody>
      </p:sp>
      <p:sp>
        <p:nvSpPr>
          <p:cNvPr id="31" name="Text 29"/>
          <p:cNvSpPr/>
          <p:nvPr/>
        </p:nvSpPr>
        <p:spPr>
          <a:xfrm>
            <a:off x="7845552" y="1554480"/>
            <a:ext cx="1097280" cy="256032"/>
          </a:xfrm>
          <a:prstGeom prst="rect">
            <a:avLst/>
          </a:prstGeom>
          <a:noFill/>
          <a:ln/>
        </p:spPr>
        <p:txBody>
          <a:bodyPr wrap="square" rtlCol="0" anchor="ctr"/>
          <a:lstStyle/>
          <a:p>
            <a:pPr marL="0" indent="0" algn="ctr">
              <a:buNone/>
            </a:pPr>
            <a:r>
              <a:rPr lang="en-US" sz="800" i="1" dirty="0">
                <a:solidFill>
                  <a:schemeClr val="bg1"/>
                </a:solidFill>
                <a:latin typeface="Calibri" pitchFamily="34" charset="0"/>
                <a:ea typeface="Calibri" pitchFamily="34" charset="-122"/>
                <a:cs typeface="Calibri" pitchFamily="34" charset="-120"/>
              </a:rPr>
              <a:t>fine-tune ↓</a:t>
            </a:r>
            <a:endParaRPr lang="en-US" sz="800" dirty="0">
              <a:solidFill>
                <a:schemeClr val="bg1"/>
              </a:solidFill>
            </a:endParaRPr>
          </a:p>
        </p:txBody>
      </p:sp>
      <p:sp>
        <p:nvSpPr>
          <p:cNvPr id="32" name="Shape 30"/>
          <p:cNvSpPr/>
          <p:nvPr/>
        </p:nvSpPr>
        <p:spPr>
          <a:xfrm>
            <a:off x="365760" y="3669937"/>
            <a:ext cx="8412480" cy="987552"/>
          </a:xfrm>
          <a:prstGeom prst="rect">
            <a:avLst/>
          </a:prstGeom>
          <a:solidFill>
            <a:srgbClr val="F0FDF4"/>
          </a:solidFill>
          <a:ln w="12700">
            <a:solidFill>
              <a:srgbClr val="059669"/>
            </a:solidFill>
            <a:prstDash val="solid"/>
          </a:ln>
        </p:spPr>
      </p:sp>
      <p:sp>
        <p:nvSpPr>
          <p:cNvPr id="33" name="Text 31"/>
          <p:cNvSpPr/>
          <p:nvPr/>
        </p:nvSpPr>
        <p:spPr>
          <a:xfrm>
            <a:off x="502920" y="3784237"/>
            <a:ext cx="8229600" cy="320040"/>
          </a:xfrm>
          <a:prstGeom prst="rect">
            <a:avLst/>
          </a:prstGeom>
          <a:noFill/>
          <a:ln/>
        </p:spPr>
        <p:txBody>
          <a:bodyPr wrap="square" rtlCol="0" anchor="ctr"/>
          <a:lstStyle/>
          <a:p>
            <a:pPr marL="0" indent="0">
              <a:buNone/>
            </a:pPr>
            <a:r>
              <a:rPr lang="en-US" sz="1100" b="1" dirty="0">
                <a:solidFill>
                  <a:srgbClr val="059669"/>
                </a:solidFill>
                <a:latin typeface="Calibri" pitchFamily="34" charset="0"/>
                <a:ea typeface="Calibri" pitchFamily="34" charset="-122"/>
                <a:cs typeface="Calibri" pitchFamily="34" charset="-120"/>
              </a:rPr>
              <a:t>✅  The CADE fix:  Each slice model is fine-tuned from the compass weights, not initialised randomly. All slices share the same coordinate frame.</a:t>
            </a:r>
            <a:endParaRPr lang="en-US" sz="1100" dirty="0"/>
          </a:p>
        </p:txBody>
      </p:sp>
      <p:sp>
        <p:nvSpPr>
          <p:cNvPr id="34" name="Text 32"/>
          <p:cNvSpPr/>
          <p:nvPr/>
        </p:nvSpPr>
        <p:spPr>
          <a:xfrm>
            <a:off x="457200" y="4148181"/>
            <a:ext cx="8229600" cy="548640"/>
          </a:xfrm>
          <a:prstGeom prst="rect">
            <a:avLst/>
          </a:prstGeom>
          <a:noFill/>
          <a:ln/>
        </p:spPr>
        <p:txBody>
          <a:bodyPr wrap="square" rtlCol="0" anchor="ctr"/>
          <a:lstStyle/>
          <a:p>
            <a:pPr marL="0" indent="0" algn="ctr">
              <a:buNone/>
            </a:pPr>
            <a:r>
              <a:rPr lang="en-US" sz="1200" b="1" dirty="0">
                <a:solidFill>
                  <a:srgbClr val="1E3A5F"/>
                </a:solidFill>
                <a:latin typeface="Courier New" pitchFamily="34" charset="0"/>
                <a:ea typeface="Courier New" pitchFamily="34" charset="-122"/>
                <a:cs typeface="Courier New" pitchFamily="34" charset="-120"/>
              </a:rPr>
              <a:t>change(word) = 1 − cosine_similarity( v_1800s(word), v_1960s(word) )    →    High score = large semantic drift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WEAT &amp; SWEAT — Measuring Gender Bias</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Methodology</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8</a:t>
            </a:r>
            <a:endParaRPr lang="en-US" sz="800" dirty="0"/>
          </a:p>
        </p:txBody>
      </p:sp>
      <p:sp>
        <p:nvSpPr>
          <p:cNvPr id="8" name="Shape 6"/>
          <p:cNvSpPr/>
          <p:nvPr/>
        </p:nvSpPr>
        <p:spPr>
          <a:xfrm>
            <a:off x="365760" y="841248"/>
            <a:ext cx="3977640" cy="2971800"/>
          </a:xfrm>
          <a:prstGeom prst="rect">
            <a:avLst/>
          </a:prstGeom>
          <a:solidFill>
            <a:srgbClr val="FFFFFF"/>
          </a:solidFill>
          <a:ln w="12700">
            <a:solidFill>
              <a:srgbClr val="CBD5E1"/>
            </a:solidFill>
            <a:prstDash val="solid"/>
          </a:ln>
        </p:spPr>
      </p:sp>
      <p:sp>
        <p:nvSpPr>
          <p:cNvPr id="9" name="Text 7"/>
          <p:cNvSpPr/>
          <p:nvPr/>
        </p:nvSpPr>
        <p:spPr>
          <a:xfrm>
            <a:off x="502920" y="886968"/>
            <a:ext cx="3657600" cy="274320"/>
          </a:xfrm>
          <a:prstGeom prst="rect">
            <a:avLst/>
          </a:prstGeom>
          <a:noFill/>
          <a:ln/>
        </p:spPr>
        <p:txBody>
          <a:bodyPr wrap="square"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Word Sets</a:t>
            </a:r>
            <a:endParaRPr lang="en-US" sz="1300" dirty="0"/>
          </a:p>
        </p:txBody>
      </p:sp>
      <p:sp>
        <p:nvSpPr>
          <p:cNvPr id="10" name="Shape 8"/>
          <p:cNvSpPr/>
          <p:nvPr/>
        </p:nvSpPr>
        <p:spPr>
          <a:xfrm>
            <a:off x="365760" y="1234440"/>
            <a:ext cx="73152" cy="566928"/>
          </a:xfrm>
          <a:prstGeom prst="rect">
            <a:avLst/>
          </a:prstGeom>
          <a:solidFill>
            <a:srgbClr val="0891B2"/>
          </a:solidFill>
          <a:ln/>
        </p:spPr>
      </p:sp>
      <p:sp>
        <p:nvSpPr>
          <p:cNvPr id="11" name="Text 9"/>
          <p:cNvSpPr/>
          <p:nvPr/>
        </p:nvSpPr>
        <p:spPr>
          <a:xfrm>
            <a:off x="512064" y="1252728"/>
            <a:ext cx="3749040" cy="201168"/>
          </a:xfrm>
          <a:prstGeom prst="rect">
            <a:avLst/>
          </a:prstGeom>
          <a:noFill/>
          <a:ln/>
        </p:spPr>
        <p:txBody>
          <a:bodyPr wrap="square"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Agency Traits (T_A)</a:t>
            </a:r>
            <a:endParaRPr lang="en-US" sz="1000" dirty="0"/>
          </a:p>
        </p:txBody>
      </p:sp>
      <p:sp>
        <p:nvSpPr>
          <p:cNvPr id="12" name="Text 10"/>
          <p:cNvSpPr/>
          <p:nvPr/>
        </p:nvSpPr>
        <p:spPr>
          <a:xfrm>
            <a:off x="512064" y="1435608"/>
            <a:ext cx="3749040" cy="38404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brave, strong, rational, bold,</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independent, ambitious, courageous</a:t>
            </a:r>
            <a:endParaRPr lang="en-US" sz="850" dirty="0"/>
          </a:p>
        </p:txBody>
      </p:sp>
      <p:sp>
        <p:nvSpPr>
          <p:cNvPr id="13" name="Shape 11"/>
          <p:cNvSpPr/>
          <p:nvPr/>
        </p:nvSpPr>
        <p:spPr>
          <a:xfrm>
            <a:off x="365760" y="1883664"/>
            <a:ext cx="73152" cy="566928"/>
          </a:xfrm>
          <a:prstGeom prst="rect">
            <a:avLst/>
          </a:prstGeom>
          <a:solidFill>
            <a:srgbClr val="A8A8F0"/>
          </a:solidFill>
          <a:ln/>
        </p:spPr>
      </p:sp>
      <p:sp>
        <p:nvSpPr>
          <p:cNvPr id="14" name="Text 12"/>
          <p:cNvSpPr/>
          <p:nvPr/>
        </p:nvSpPr>
        <p:spPr>
          <a:xfrm>
            <a:off x="512064" y="1901952"/>
            <a:ext cx="3749040" cy="201168"/>
          </a:xfrm>
          <a:prstGeom prst="rect">
            <a:avLst/>
          </a:prstGeom>
          <a:noFill/>
          <a:ln/>
        </p:spPr>
        <p:txBody>
          <a:bodyPr wrap="square"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Communal Traits (T_C)</a:t>
            </a:r>
            <a:endParaRPr lang="en-US" sz="1000" dirty="0"/>
          </a:p>
        </p:txBody>
      </p:sp>
      <p:sp>
        <p:nvSpPr>
          <p:cNvPr id="15" name="Text 13"/>
          <p:cNvSpPr/>
          <p:nvPr/>
        </p:nvSpPr>
        <p:spPr>
          <a:xfrm>
            <a:off x="512064" y="2084832"/>
            <a:ext cx="3749040" cy="38404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gentle, beautiful, emotional, frail,</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delicate, modest, tender, meek</a:t>
            </a:r>
            <a:endParaRPr lang="en-US" sz="850" dirty="0"/>
          </a:p>
        </p:txBody>
      </p:sp>
      <p:sp>
        <p:nvSpPr>
          <p:cNvPr id="16" name="Shape 14"/>
          <p:cNvSpPr/>
          <p:nvPr/>
        </p:nvSpPr>
        <p:spPr>
          <a:xfrm>
            <a:off x="365760" y="2532888"/>
            <a:ext cx="73152" cy="566928"/>
          </a:xfrm>
          <a:prstGeom prst="rect">
            <a:avLst/>
          </a:prstGeom>
          <a:solidFill>
            <a:srgbClr val="1E3A5F"/>
          </a:solidFill>
          <a:ln/>
        </p:spPr>
      </p:sp>
      <p:sp>
        <p:nvSpPr>
          <p:cNvPr id="17" name="Text 15"/>
          <p:cNvSpPr/>
          <p:nvPr/>
        </p:nvSpPr>
        <p:spPr>
          <a:xfrm>
            <a:off x="512064" y="2551176"/>
            <a:ext cx="3749040" cy="201168"/>
          </a:xfrm>
          <a:prstGeom prst="rect">
            <a:avLst/>
          </a:prstGeom>
          <a:noFill/>
          <a:ln/>
        </p:spPr>
        <p:txBody>
          <a:bodyPr wrap="square"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Male Names (A₁)</a:t>
            </a:r>
            <a:endParaRPr lang="en-US" sz="1000" dirty="0"/>
          </a:p>
        </p:txBody>
      </p:sp>
      <p:sp>
        <p:nvSpPr>
          <p:cNvPr id="18" name="Text 16"/>
          <p:cNvSpPr/>
          <p:nvPr/>
        </p:nvSpPr>
        <p:spPr>
          <a:xfrm>
            <a:off x="512064" y="2734056"/>
            <a:ext cx="3749040" cy="38404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henry, william, edward, charles,</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george, thomas, arthur, james</a:t>
            </a:r>
            <a:endParaRPr lang="en-US" sz="850" dirty="0"/>
          </a:p>
        </p:txBody>
      </p:sp>
      <p:sp>
        <p:nvSpPr>
          <p:cNvPr id="19" name="Shape 17"/>
          <p:cNvSpPr/>
          <p:nvPr/>
        </p:nvSpPr>
        <p:spPr>
          <a:xfrm>
            <a:off x="365760" y="3182112"/>
            <a:ext cx="73152" cy="566928"/>
          </a:xfrm>
          <a:prstGeom prst="rect">
            <a:avLst/>
          </a:prstGeom>
          <a:solidFill>
            <a:srgbClr val="C084FC"/>
          </a:solidFill>
          <a:ln/>
        </p:spPr>
      </p:sp>
      <p:sp>
        <p:nvSpPr>
          <p:cNvPr id="20" name="Text 18"/>
          <p:cNvSpPr/>
          <p:nvPr/>
        </p:nvSpPr>
        <p:spPr>
          <a:xfrm>
            <a:off x="512064" y="3200400"/>
            <a:ext cx="3749040" cy="201168"/>
          </a:xfrm>
          <a:prstGeom prst="rect">
            <a:avLst/>
          </a:prstGeom>
          <a:noFill/>
          <a:ln/>
        </p:spPr>
        <p:txBody>
          <a:bodyPr wrap="square" rtlCol="0" anchor="ctr"/>
          <a:lstStyle/>
          <a:p>
            <a:pPr marL="0" indent="0">
              <a:buNone/>
            </a:pPr>
            <a:r>
              <a:rPr lang="en-US" sz="1000" b="1" dirty="0">
                <a:solidFill>
                  <a:srgbClr val="334155"/>
                </a:solidFill>
                <a:latin typeface="Calibri" pitchFamily="34" charset="0"/>
                <a:ea typeface="Calibri" pitchFamily="34" charset="-122"/>
                <a:cs typeface="Calibri" pitchFamily="34" charset="-120"/>
              </a:rPr>
              <a:t>Female Names (A₂)</a:t>
            </a:r>
            <a:endParaRPr lang="en-US" sz="1000" dirty="0"/>
          </a:p>
        </p:txBody>
      </p:sp>
      <p:sp>
        <p:nvSpPr>
          <p:cNvPr id="21" name="Text 19"/>
          <p:cNvSpPr/>
          <p:nvPr/>
        </p:nvSpPr>
        <p:spPr>
          <a:xfrm>
            <a:off x="512064" y="3383280"/>
            <a:ext cx="3749040" cy="384048"/>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mary, elizabeth, jane, catherine,</a:t>
            </a:r>
            <a:endParaRPr lang="en-US" sz="850" dirty="0"/>
          </a:p>
          <a:p>
            <a:pPr marL="0" indent="0">
              <a:buNone/>
            </a:pPr>
            <a:r>
              <a:rPr lang="en-US" sz="850" dirty="0">
                <a:solidFill>
                  <a:srgbClr val="64748B"/>
                </a:solidFill>
                <a:latin typeface="Calibri" pitchFamily="34" charset="0"/>
                <a:ea typeface="Calibri" pitchFamily="34" charset="-122"/>
                <a:cs typeface="Calibri" pitchFamily="34" charset="-120"/>
              </a:rPr>
              <a:t>emma, agnes, clara, harriet</a:t>
            </a:r>
            <a:endParaRPr lang="en-US" sz="850" dirty="0"/>
          </a:p>
        </p:txBody>
      </p:sp>
      <p:sp>
        <p:nvSpPr>
          <p:cNvPr id="22" name="Shape 20"/>
          <p:cNvSpPr/>
          <p:nvPr/>
        </p:nvSpPr>
        <p:spPr>
          <a:xfrm>
            <a:off x="4617720" y="841248"/>
            <a:ext cx="4160520" cy="2971800"/>
          </a:xfrm>
          <a:prstGeom prst="rect">
            <a:avLst/>
          </a:prstGeom>
          <a:solidFill>
            <a:srgbClr val="1E3A5F"/>
          </a:solidFill>
          <a:ln/>
        </p:spPr>
        <p:txBody>
          <a:bodyPr/>
          <a:lstStyle/>
          <a:p>
            <a:endParaRPr lang="en-US" dirty="0"/>
          </a:p>
        </p:txBody>
      </p:sp>
      <p:sp>
        <p:nvSpPr>
          <p:cNvPr id="23" name="Text 21"/>
          <p:cNvSpPr/>
          <p:nvPr/>
        </p:nvSpPr>
        <p:spPr>
          <a:xfrm>
            <a:off x="4754880" y="886968"/>
            <a:ext cx="3931920" cy="274320"/>
          </a:xfrm>
          <a:prstGeom prst="rect">
            <a:avLst/>
          </a:prstGeom>
          <a:noFill/>
          <a:ln/>
        </p:spPr>
        <p:txBody>
          <a:bodyPr wrap="square" rtlCol="0" anchor="ctr"/>
          <a:lstStyle/>
          <a:p>
            <a:pPr marL="0" indent="0">
              <a:buNone/>
            </a:pPr>
            <a:r>
              <a:rPr lang="en-US" sz="1300" b="1" dirty="0">
                <a:solidFill>
                  <a:srgbClr val="0891B2"/>
                </a:solidFill>
                <a:latin typeface="Calibri" pitchFamily="34" charset="0"/>
                <a:ea typeface="Calibri" pitchFamily="34" charset="-122"/>
                <a:cs typeface="Calibri" pitchFamily="34" charset="-120"/>
              </a:rPr>
              <a:t>How WEAT Works</a:t>
            </a:r>
            <a:endParaRPr lang="en-US" sz="1300" dirty="0"/>
          </a:p>
        </p:txBody>
      </p:sp>
      <p:sp>
        <p:nvSpPr>
          <p:cNvPr id="24" name="Text 22"/>
          <p:cNvSpPr/>
          <p:nvPr/>
        </p:nvSpPr>
        <p:spPr>
          <a:xfrm>
            <a:off x="4754880" y="1234440"/>
            <a:ext cx="3886200" cy="2468880"/>
          </a:xfrm>
          <a:prstGeom prst="rect">
            <a:avLst/>
          </a:prstGeom>
          <a:noFill/>
          <a:ln/>
        </p:spPr>
        <p:txBody>
          <a:bodyPr wrap="square" rtlCol="0" anchor="t"/>
          <a:lstStyle/>
          <a:p>
            <a:pPr marL="0" indent="0">
              <a:buNone/>
            </a:pPr>
            <a:r>
              <a:rPr lang="en-US" sz="1050" dirty="0">
                <a:solidFill>
                  <a:srgbClr val="CBD5E1"/>
                </a:solidFill>
                <a:latin typeface="Calibri" pitchFamily="34" charset="0"/>
                <a:ea typeface="Calibri" pitchFamily="34" charset="-122"/>
                <a:cs typeface="Calibri" pitchFamily="34" charset="-120"/>
              </a:rPr>
              <a:t>For each target word t, compute:</a:t>
            </a:r>
            <a:endParaRPr lang="en-US" sz="1050" dirty="0"/>
          </a:p>
          <a:p>
            <a:pPr marL="0" indent="0">
              <a:buNone/>
            </a:pPr>
            <a:endParaRPr lang="en-US" sz="1050" dirty="0"/>
          </a:p>
          <a:p>
            <a:pPr marL="0" indent="0">
              <a:buNone/>
            </a:pPr>
            <a:r>
              <a:rPr lang="en-US" sz="1050" dirty="0">
                <a:solidFill>
                  <a:srgbClr val="CBD5E1"/>
                </a:solidFill>
                <a:latin typeface="Calibri" pitchFamily="34" charset="0"/>
                <a:ea typeface="Calibri" pitchFamily="34" charset="-122"/>
                <a:cs typeface="Calibri" pitchFamily="34" charset="-120"/>
              </a:rPr>
              <a:t>s(t) = mean_cos(t, A₁) − mean_cos(t, A₂)</a:t>
            </a:r>
            <a:endParaRPr lang="en-US" sz="1050" dirty="0"/>
          </a:p>
          <a:p>
            <a:pPr marL="0" indent="0">
              <a:buNone/>
            </a:pPr>
            <a:endParaRPr lang="en-US" sz="1050" dirty="0"/>
          </a:p>
          <a:p>
            <a:pPr marL="0" indent="0">
              <a:buNone/>
            </a:pPr>
            <a:r>
              <a:rPr lang="en-US" sz="1050" dirty="0">
                <a:solidFill>
                  <a:srgbClr val="CBD5E1"/>
                </a:solidFill>
                <a:latin typeface="Calibri" pitchFamily="34" charset="0"/>
                <a:ea typeface="Calibri" pitchFamily="34" charset="-122"/>
                <a:cs typeface="Calibri" pitchFamily="34" charset="-120"/>
              </a:rPr>
              <a:t>Effect size:  d = mean(s) / std(s)</a:t>
            </a:r>
            <a:endParaRPr lang="en-US" sz="1050" dirty="0"/>
          </a:p>
          <a:p>
            <a:pPr marL="0" indent="0">
              <a:buNone/>
            </a:pPr>
            <a:endParaRPr lang="en-US" sz="1050" dirty="0"/>
          </a:p>
          <a:p>
            <a:pPr marL="0" indent="0">
              <a:buNone/>
            </a:pPr>
            <a:r>
              <a:rPr lang="en-US" sz="1050" dirty="0">
                <a:solidFill>
                  <a:srgbClr val="CBD5E1"/>
                </a:solidFill>
                <a:latin typeface="Calibri" pitchFamily="34" charset="0"/>
                <a:ea typeface="Calibri" pitchFamily="34" charset="-122"/>
                <a:cs typeface="Calibri" pitchFamily="34" charset="-120"/>
              </a:rPr>
              <a:t>Positive d  →  targets closer to male names</a:t>
            </a:r>
            <a:endParaRPr lang="en-US" sz="1050" dirty="0"/>
          </a:p>
          <a:p>
            <a:pPr marL="0" indent="0">
              <a:buNone/>
            </a:pPr>
            <a:r>
              <a:rPr lang="en-US" sz="1050" dirty="0">
                <a:solidFill>
                  <a:srgbClr val="CBD5E1"/>
                </a:solidFill>
                <a:latin typeface="Calibri" pitchFamily="34" charset="0"/>
                <a:ea typeface="Calibri" pitchFamily="34" charset="-122"/>
                <a:cs typeface="Calibri" pitchFamily="34" charset="-120"/>
              </a:rPr>
              <a:t>Negative d →  targets closer to female names</a:t>
            </a:r>
            <a:endParaRPr lang="en-US" sz="1050" dirty="0"/>
          </a:p>
          <a:p>
            <a:pPr marL="0" indent="0">
              <a:buNone/>
            </a:pPr>
            <a:r>
              <a:rPr lang="en-US" sz="1050" dirty="0">
                <a:solidFill>
                  <a:srgbClr val="CBD5E1"/>
                </a:solidFill>
                <a:latin typeface="Calibri" pitchFamily="34" charset="0"/>
                <a:ea typeface="Calibri" pitchFamily="34" charset="-122"/>
                <a:cs typeface="Calibri" pitchFamily="34" charset="-120"/>
              </a:rPr>
              <a:t>d &gt; 0.8     →  large effect</a:t>
            </a:r>
            <a:endParaRPr lang="en-US" sz="1050" dirty="0"/>
          </a:p>
          <a:p>
            <a:pPr marL="0" indent="0">
              <a:buNone/>
            </a:pPr>
            <a:endParaRPr lang="en-US" sz="1050" dirty="0"/>
          </a:p>
          <a:p>
            <a:pPr marL="0" indent="0">
              <a:buNone/>
            </a:pPr>
            <a:r>
              <a:rPr lang="en-US" sz="1050" dirty="0">
                <a:solidFill>
                  <a:srgbClr val="CBD5E1"/>
                </a:solidFill>
                <a:latin typeface="Calibri" pitchFamily="34" charset="0"/>
                <a:ea typeface="Calibri" pitchFamily="34" charset="-122"/>
                <a:cs typeface="Calibri" pitchFamily="34" charset="-120"/>
              </a:rPr>
              <a:t>Significance:  permutation test (1,000 shuffles)</a:t>
            </a:r>
            <a:endParaRPr lang="en-US" sz="1050" dirty="0"/>
          </a:p>
          <a:p>
            <a:pPr marL="0" indent="0">
              <a:buNone/>
            </a:pPr>
            <a:r>
              <a:rPr lang="en-US" sz="1050" dirty="0">
                <a:solidFill>
                  <a:srgbClr val="CBD5E1"/>
                </a:solidFill>
                <a:latin typeface="Calibri" pitchFamily="34" charset="0"/>
                <a:ea typeface="Calibri" pitchFamily="34" charset="-122"/>
                <a:cs typeface="Calibri" pitchFamily="34" charset="-120"/>
              </a:rPr>
              <a:t>p &lt; 0.05  →  statistically significant</a:t>
            </a:r>
            <a:endParaRPr lang="en-US" sz="1050" dirty="0"/>
          </a:p>
        </p:txBody>
      </p:sp>
      <p:sp>
        <p:nvSpPr>
          <p:cNvPr id="25" name="Shape 23"/>
          <p:cNvSpPr/>
          <p:nvPr/>
        </p:nvSpPr>
        <p:spPr>
          <a:xfrm>
            <a:off x="365760" y="3913632"/>
            <a:ext cx="8412480" cy="384048"/>
          </a:xfrm>
          <a:prstGeom prst="rect">
            <a:avLst/>
          </a:prstGeom>
          <a:solidFill>
            <a:srgbClr val="0891B2"/>
          </a:solidFill>
          <a:ln/>
        </p:spPr>
      </p:sp>
      <p:sp>
        <p:nvSpPr>
          <p:cNvPr id="26" name="Text 24"/>
          <p:cNvSpPr/>
          <p:nvPr/>
        </p:nvSpPr>
        <p:spPr>
          <a:xfrm>
            <a:off x="502920" y="3931920"/>
            <a:ext cx="8229600"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SWEAT = Sliced WEAT: run WEAT on each decade slice separately → plot how d evolves across 9 literary periods (RQ5)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Related Work — 5 Key Papers</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Related Work</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9</a:t>
            </a:r>
            <a:endParaRPr lang="en-US" sz="800" dirty="0"/>
          </a:p>
        </p:txBody>
      </p:sp>
      <p:sp>
        <p:nvSpPr>
          <p:cNvPr id="8" name="Shape 6"/>
          <p:cNvSpPr/>
          <p:nvPr/>
        </p:nvSpPr>
        <p:spPr>
          <a:xfrm>
            <a:off x="365760" y="841248"/>
            <a:ext cx="502920" cy="658368"/>
          </a:xfrm>
          <a:prstGeom prst="rect">
            <a:avLst/>
          </a:prstGeom>
          <a:solidFill>
            <a:srgbClr val="0891B2"/>
          </a:solidFill>
          <a:ln/>
        </p:spPr>
      </p:sp>
      <p:sp>
        <p:nvSpPr>
          <p:cNvPr id="9" name="Text 7"/>
          <p:cNvSpPr/>
          <p:nvPr/>
        </p:nvSpPr>
        <p:spPr>
          <a:xfrm>
            <a:off x="365760" y="841248"/>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8"/>
          <p:cNvSpPr/>
          <p:nvPr/>
        </p:nvSpPr>
        <p:spPr>
          <a:xfrm>
            <a:off x="896112" y="841248"/>
            <a:ext cx="7882128" cy="658368"/>
          </a:xfrm>
          <a:prstGeom prst="rect">
            <a:avLst/>
          </a:prstGeom>
          <a:solidFill>
            <a:srgbClr val="FFFFFF"/>
          </a:solidFill>
          <a:ln w="6350">
            <a:solidFill>
              <a:srgbClr val="CBD5E1"/>
            </a:solidFill>
            <a:prstDash val="solid"/>
          </a:ln>
        </p:spPr>
      </p:sp>
      <p:sp>
        <p:nvSpPr>
          <p:cNvPr id="11" name="Text 9"/>
          <p:cNvSpPr/>
          <p:nvPr/>
        </p:nvSpPr>
        <p:spPr>
          <a:xfrm>
            <a:off x="987552" y="896112"/>
            <a:ext cx="320040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Mikolov et al. (2013)</a:t>
            </a:r>
            <a:endParaRPr lang="en-US" sz="1100" dirty="0"/>
          </a:p>
        </p:txBody>
      </p:sp>
      <p:sp>
        <p:nvSpPr>
          <p:cNvPr id="12" name="Text 10"/>
          <p:cNvSpPr/>
          <p:nvPr/>
        </p:nvSpPr>
        <p:spPr>
          <a:xfrm>
            <a:off x="987552" y="1161288"/>
            <a:ext cx="7699248" cy="29260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Word2Vec: skip-gram architecture. Foundation for all embedding-based analysis in this project.</a:t>
            </a:r>
            <a:endParaRPr lang="en-US" sz="1000" dirty="0"/>
          </a:p>
        </p:txBody>
      </p:sp>
      <p:sp>
        <p:nvSpPr>
          <p:cNvPr id="13" name="Shape 11"/>
          <p:cNvSpPr/>
          <p:nvPr/>
        </p:nvSpPr>
        <p:spPr>
          <a:xfrm>
            <a:off x="365760" y="1645920"/>
            <a:ext cx="502920" cy="658368"/>
          </a:xfrm>
          <a:prstGeom prst="rect">
            <a:avLst/>
          </a:prstGeom>
          <a:solidFill>
            <a:srgbClr val="0891B2"/>
          </a:solidFill>
          <a:ln/>
        </p:spPr>
      </p:sp>
      <p:sp>
        <p:nvSpPr>
          <p:cNvPr id="14" name="Text 12"/>
          <p:cNvSpPr/>
          <p:nvPr/>
        </p:nvSpPr>
        <p:spPr>
          <a:xfrm>
            <a:off x="365760" y="1645920"/>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Shape 13"/>
          <p:cNvSpPr/>
          <p:nvPr/>
        </p:nvSpPr>
        <p:spPr>
          <a:xfrm>
            <a:off x="896112" y="1645920"/>
            <a:ext cx="7882128" cy="658368"/>
          </a:xfrm>
          <a:prstGeom prst="rect">
            <a:avLst/>
          </a:prstGeom>
          <a:solidFill>
            <a:srgbClr val="E8F4FD"/>
          </a:solidFill>
          <a:ln w="6350">
            <a:solidFill>
              <a:srgbClr val="CBD5E1"/>
            </a:solidFill>
            <a:prstDash val="solid"/>
          </a:ln>
        </p:spPr>
      </p:sp>
      <p:sp>
        <p:nvSpPr>
          <p:cNvPr id="16" name="Text 14"/>
          <p:cNvSpPr/>
          <p:nvPr/>
        </p:nvSpPr>
        <p:spPr>
          <a:xfrm>
            <a:off x="987552" y="1700784"/>
            <a:ext cx="320040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Hamilton et al. (2016)</a:t>
            </a:r>
            <a:endParaRPr lang="en-US" sz="1100" dirty="0"/>
          </a:p>
        </p:txBody>
      </p:sp>
      <p:sp>
        <p:nvSpPr>
          <p:cNvPr id="17" name="Text 15"/>
          <p:cNvSpPr/>
          <p:nvPr/>
        </p:nvSpPr>
        <p:spPr>
          <a:xfrm>
            <a:off x="987552" y="1965960"/>
            <a:ext cx="7699248" cy="29260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Diachronic Word Embeddings: statistical laws of semantic change. Our RQ1–RQ3 methodology is directly based on their cosine-distance change score.</a:t>
            </a:r>
            <a:endParaRPr lang="en-US" sz="1000" dirty="0"/>
          </a:p>
        </p:txBody>
      </p:sp>
      <p:sp>
        <p:nvSpPr>
          <p:cNvPr id="18" name="Shape 16"/>
          <p:cNvSpPr/>
          <p:nvPr/>
        </p:nvSpPr>
        <p:spPr>
          <a:xfrm>
            <a:off x="365760" y="2450592"/>
            <a:ext cx="502920" cy="658368"/>
          </a:xfrm>
          <a:prstGeom prst="rect">
            <a:avLst/>
          </a:prstGeom>
          <a:solidFill>
            <a:srgbClr val="0891B2"/>
          </a:solidFill>
          <a:ln/>
        </p:spPr>
      </p:sp>
      <p:sp>
        <p:nvSpPr>
          <p:cNvPr id="19" name="Text 17"/>
          <p:cNvSpPr/>
          <p:nvPr/>
        </p:nvSpPr>
        <p:spPr>
          <a:xfrm>
            <a:off x="365760" y="2450592"/>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Shape 18"/>
          <p:cNvSpPr/>
          <p:nvPr/>
        </p:nvSpPr>
        <p:spPr>
          <a:xfrm>
            <a:off x="896112" y="2450592"/>
            <a:ext cx="7882128" cy="658368"/>
          </a:xfrm>
          <a:prstGeom prst="rect">
            <a:avLst/>
          </a:prstGeom>
          <a:solidFill>
            <a:srgbClr val="FFFFFF"/>
          </a:solidFill>
          <a:ln w="6350">
            <a:solidFill>
              <a:srgbClr val="CBD5E1"/>
            </a:solidFill>
            <a:prstDash val="solid"/>
          </a:ln>
        </p:spPr>
      </p:sp>
      <p:sp>
        <p:nvSpPr>
          <p:cNvPr id="21" name="Text 19"/>
          <p:cNvSpPr/>
          <p:nvPr/>
        </p:nvSpPr>
        <p:spPr>
          <a:xfrm>
            <a:off x="987552" y="2505456"/>
            <a:ext cx="320040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Bianchi et al. (2020)</a:t>
            </a:r>
            <a:endParaRPr lang="en-US" sz="1100" dirty="0"/>
          </a:p>
        </p:txBody>
      </p:sp>
      <p:sp>
        <p:nvSpPr>
          <p:cNvPr id="22" name="Text 20"/>
          <p:cNvSpPr/>
          <p:nvPr/>
        </p:nvSpPr>
        <p:spPr>
          <a:xfrm>
            <a:off x="987552" y="2770632"/>
            <a:ext cx="7699248" cy="29260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CADE: compass-aligned training solves the comparability problem. Our core diachronic method.</a:t>
            </a:r>
            <a:endParaRPr lang="en-US" sz="1000" dirty="0"/>
          </a:p>
        </p:txBody>
      </p:sp>
      <p:sp>
        <p:nvSpPr>
          <p:cNvPr id="23" name="Shape 21"/>
          <p:cNvSpPr/>
          <p:nvPr/>
        </p:nvSpPr>
        <p:spPr>
          <a:xfrm>
            <a:off x="365760" y="3255264"/>
            <a:ext cx="502920" cy="658368"/>
          </a:xfrm>
          <a:prstGeom prst="rect">
            <a:avLst/>
          </a:prstGeom>
          <a:solidFill>
            <a:srgbClr val="0891B2"/>
          </a:solidFill>
          <a:ln/>
        </p:spPr>
      </p:sp>
      <p:sp>
        <p:nvSpPr>
          <p:cNvPr id="24" name="Text 22"/>
          <p:cNvSpPr/>
          <p:nvPr/>
        </p:nvSpPr>
        <p:spPr>
          <a:xfrm>
            <a:off x="365760" y="3255264"/>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Shape 23"/>
          <p:cNvSpPr/>
          <p:nvPr/>
        </p:nvSpPr>
        <p:spPr>
          <a:xfrm>
            <a:off x="896112" y="3255264"/>
            <a:ext cx="7882128" cy="658368"/>
          </a:xfrm>
          <a:prstGeom prst="rect">
            <a:avLst/>
          </a:prstGeom>
          <a:solidFill>
            <a:srgbClr val="E8F4FD"/>
          </a:solidFill>
          <a:ln w="6350">
            <a:solidFill>
              <a:srgbClr val="CBD5E1"/>
            </a:solidFill>
            <a:prstDash val="solid"/>
          </a:ln>
        </p:spPr>
      </p:sp>
      <p:sp>
        <p:nvSpPr>
          <p:cNvPr id="26" name="Text 24"/>
          <p:cNvSpPr/>
          <p:nvPr/>
        </p:nvSpPr>
        <p:spPr>
          <a:xfrm>
            <a:off x="987552" y="3310128"/>
            <a:ext cx="320040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Caliskan et al. (2017)</a:t>
            </a:r>
            <a:endParaRPr lang="en-US" sz="1100" dirty="0"/>
          </a:p>
        </p:txBody>
      </p:sp>
      <p:sp>
        <p:nvSpPr>
          <p:cNvPr id="27" name="Text 25"/>
          <p:cNvSpPr/>
          <p:nvPr/>
        </p:nvSpPr>
        <p:spPr>
          <a:xfrm>
            <a:off x="987552" y="3575304"/>
            <a:ext cx="7699248" cy="29260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WEAT: word embedding association test. Our bias measurement methodology (RQ4–RQ5) replicates their framework.</a:t>
            </a:r>
            <a:endParaRPr lang="en-US" sz="1000" dirty="0"/>
          </a:p>
        </p:txBody>
      </p:sp>
      <p:sp>
        <p:nvSpPr>
          <p:cNvPr id="28" name="Shape 26"/>
          <p:cNvSpPr/>
          <p:nvPr/>
        </p:nvSpPr>
        <p:spPr>
          <a:xfrm>
            <a:off x="365760" y="4059936"/>
            <a:ext cx="502920" cy="658368"/>
          </a:xfrm>
          <a:prstGeom prst="rect">
            <a:avLst/>
          </a:prstGeom>
          <a:solidFill>
            <a:srgbClr val="0891B2"/>
          </a:solidFill>
          <a:ln/>
        </p:spPr>
      </p:sp>
      <p:sp>
        <p:nvSpPr>
          <p:cNvPr id="29" name="Text 27"/>
          <p:cNvSpPr/>
          <p:nvPr/>
        </p:nvSpPr>
        <p:spPr>
          <a:xfrm>
            <a:off x="365760" y="4059936"/>
            <a:ext cx="502920" cy="65836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0" name="Shape 28"/>
          <p:cNvSpPr/>
          <p:nvPr/>
        </p:nvSpPr>
        <p:spPr>
          <a:xfrm>
            <a:off x="896112" y="4059936"/>
            <a:ext cx="7882128" cy="658368"/>
          </a:xfrm>
          <a:prstGeom prst="rect">
            <a:avLst/>
          </a:prstGeom>
          <a:solidFill>
            <a:srgbClr val="FFFFFF"/>
          </a:solidFill>
          <a:ln w="6350">
            <a:solidFill>
              <a:srgbClr val="CBD5E1"/>
            </a:solidFill>
            <a:prstDash val="solid"/>
          </a:ln>
        </p:spPr>
      </p:sp>
      <p:sp>
        <p:nvSpPr>
          <p:cNvPr id="31" name="Text 29"/>
          <p:cNvSpPr/>
          <p:nvPr/>
        </p:nvSpPr>
        <p:spPr>
          <a:xfrm>
            <a:off x="987552" y="4114800"/>
            <a:ext cx="320040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Garg et al. (2018)</a:t>
            </a:r>
            <a:endParaRPr lang="en-US" sz="1100" dirty="0"/>
          </a:p>
        </p:txBody>
      </p:sp>
      <p:sp>
        <p:nvSpPr>
          <p:cNvPr id="32" name="Text 30"/>
          <p:cNvSpPr/>
          <p:nvPr/>
        </p:nvSpPr>
        <p:spPr>
          <a:xfrm>
            <a:off x="987552" y="4379976"/>
            <a:ext cx="7699248" cy="292608"/>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Gender &amp; ethnic stereotypes in embeddings over 100 years. Direct precedent for our SWEAT analysis of gender bias over literary history.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Results: Top 20 Most Semantically Changed Words</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Results — Semantic Change</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10</a:t>
            </a:r>
            <a:endParaRPr lang="en-US" sz="800" dirty="0"/>
          </a:p>
        </p:txBody>
      </p:sp>
      <p:sp>
        <p:nvSpPr>
          <p:cNvPr id="10" name="Shape 8"/>
          <p:cNvSpPr/>
          <p:nvPr/>
        </p:nvSpPr>
        <p:spPr>
          <a:xfrm>
            <a:off x="6446520" y="841248"/>
            <a:ext cx="2331720" cy="3886200"/>
          </a:xfrm>
          <a:prstGeom prst="rect">
            <a:avLst/>
          </a:prstGeom>
          <a:solidFill>
            <a:srgbClr val="1E3A5F"/>
          </a:solidFill>
          <a:ln/>
        </p:spPr>
      </p:sp>
      <p:sp>
        <p:nvSpPr>
          <p:cNvPr id="11" name="Text 9"/>
          <p:cNvSpPr/>
          <p:nvPr/>
        </p:nvSpPr>
        <p:spPr>
          <a:xfrm>
            <a:off x="6537960" y="886968"/>
            <a:ext cx="2148840" cy="274320"/>
          </a:xfrm>
          <a:prstGeom prst="rect">
            <a:avLst/>
          </a:prstGeom>
          <a:noFill/>
          <a:ln/>
        </p:spPr>
        <p:txBody>
          <a:bodyPr wrap="square" rtlCol="0" anchor="ctr"/>
          <a:lstStyle/>
          <a:p>
            <a:pPr marL="0" indent="0">
              <a:buNone/>
            </a:pPr>
            <a:r>
              <a:rPr lang="en-US" sz="1300" b="1" dirty="0">
                <a:solidFill>
                  <a:srgbClr val="0891B2"/>
                </a:solidFill>
                <a:latin typeface="Calibri" pitchFamily="34" charset="0"/>
                <a:ea typeface="Calibri" pitchFamily="34" charset="-122"/>
                <a:cs typeface="Calibri" pitchFamily="34" charset="-120"/>
              </a:rPr>
              <a:t>Key Findings</a:t>
            </a:r>
            <a:endParaRPr lang="en-US" sz="1300" dirty="0"/>
          </a:p>
        </p:txBody>
      </p:sp>
      <p:sp>
        <p:nvSpPr>
          <p:cNvPr id="12" name="Text 10"/>
          <p:cNvSpPr/>
          <p:nvPr/>
        </p:nvSpPr>
        <p:spPr>
          <a:xfrm>
            <a:off x="6537960" y="1234440"/>
            <a:ext cx="2148840" cy="3383280"/>
          </a:xfrm>
          <a:prstGeom prst="rect">
            <a:avLst/>
          </a:prstGeom>
          <a:noFill/>
          <a:ln/>
        </p:spPr>
        <p:txBody>
          <a:bodyPr wrap="square" rtlCol="0" anchor="t"/>
          <a:lstStyle/>
          <a:p>
            <a:pPr marL="0" indent="0">
              <a:buNone/>
            </a:pPr>
            <a:r>
              <a:rPr lang="en-US" sz="1000" b="1" dirty="0">
                <a:solidFill>
                  <a:srgbClr val="CBD5E1"/>
                </a:solidFill>
                <a:latin typeface="Calibri" pitchFamily="34" charset="0"/>
                <a:ea typeface="Calibri" pitchFamily="34" charset="-122"/>
                <a:cs typeface="Calibri" pitchFamily="34" charset="-120"/>
              </a:rPr>
              <a:t>Most changed: </a:t>
            </a:r>
            <a:r>
              <a:rPr lang="en-US" sz="1000" dirty="0">
                <a:solidFill>
                  <a:srgbClr val="CBD5E1"/>
                </a:solidFill>
                <a:latin typeface="Calibri" pitchFamily="34" charset="0"/>
                <a:ea typeface="Calibri" pitchFamily="34" charset="-122"/>
                <a:cs typeface="Calibri" pitchFamily="34" charset="-120"/>
              </a:rPr>
              <a:t>[</a:t>
            </a:r>
            <a:r>
              <a:rPr lang="en-US" sz="1000" b="1" dirty="0">
                <a:solidFill>
                  <a:srgbClr val="CBD5E1"/>
                </a:solidFill>
                <a:latin typeface="Calibri" pitchFamily="34" charset="0"/>
                <a:ea typeface="Calibri" pitchFamily="34" charset="-122"/>
                <a:cs typeface="Calibri" pitchFamily="34" charset="-120"/>
              </a:rPr>
              <a:t>single</a:t>
            </a:r>
            <a:r>
              <a:rPr lang="en-US" sz="1000" dirty="0">
                <a:solidFill>
                  <a:srgbClr val="CBD5E1"/>
                </a:solidFill>
                <a:latin typeface="Calibri" pitchFamily="34" charset="0"/>
                <a:ea typeface="Calibri" pitchFamily="34" charset="-122"/>
                <a:cs typeface="Calibri" pitchFamily="34" charset="-120"/>
              </a:rPr>
              <a:t>]
</a:t>
            </a:r>
            <a:endParaRPr lang="en-US" sz="1000" dirty="0"/>
          </a:p>
          <a:p>
            <a:pPr marL="0" indent="0">
              <a:buNone/>
            </a:pPr>
            <a:r>
              <a:rPr lang="en-US" sz="1000" b="1" dirty="0">
                <a:solidFill>
                  <a:srgbClr val="CBD5E1"/>
                </a:solidFill>
                <a:latin typeface="Calibri" pitchFamily="34" charset="0"/>
                <a:ea typeface="Calibri" pitchFamily="34" charset="-122"/>
                <a:cs typeface="Calibri" pitchFamily="34" charset="-120"/>
              </a:rPr>
              <a:t>Change score: </a:t>
            </a:r>
            <a:r>
              <a:rPr lang="en-US" sz="1000" dirty="0">
                <a:solidFill>
                  <a:srgbClr val="CBD5E1"/>
                </a:solidFill>
                <a:latin typeface="Calibri" pitchFamily="34" charset="0"/>
                <a:ea typeface="Calibri" pitchFamily="34" charset="-122"/>
                <a:cs typeface="Calibri" pitchFamily="34" charset="-120"/>
              </a:rPr>
              <a:t>[0.05]
</a:t>
            </a:r>
            <a:endParaRPr lang="en-US" sz="1000" dirty="0"/>
          </a:p>
          <a:p>
            <a:pPr marL="0" indent="0">
              <a:buNone/>
            </a:pPr>
            <a:r>
              <a:rPr lang="en-US" sz="1000" b="1" dirty="0">
                <a:solidFill>
                  <a:srgbClr val="CBD5E1"/>
                </a:solidFill>
                <a:latin typeface="Calibri" pitchFamily="34" charset="0"/>
                <a:ea typeface="Calibri" pitchFamily="34" charset="-122"/>
                <a:cs typeface="Calibri" pitchFamily="34" charset="-120"/>
              </a:rPr>
              <a:t>Most stable: </a:t>
            </a:r>
            <a:r>
              <a:rPr lang="en-US" sz="1000" dirty="0">
                <a:solidFill>
                  <a:srgbClr val="CBD5E1"/>
                </a:solidFill>
                <a:latin typeface="Calibri" pitchFamily="34" charset="0"/>
                <a:ea typeface="Calibri" pitchFamily="34" charset="-122"/>
                <a:cs typeface="Calibri" pitchFamily="34" charset="-120"/>
              </a:rPr>
              <a:t>sit, port, busy, library, century
</a:t>
            </a:r>
            <a:endParaRPr lang="en-US" sz="1000" dirty="0"/>
          </a:p>
          <a:p>
            <a:pPr marL="0" indent="0">
              <a:buNone/>
            </a:pPr>
            <a:r>
              <a:rPr lang="en-US" sz="1000" b="1" dirty="0">
                <a:solidFill>
                  <a:srgbClr val="CBD5E1"/>
                </a:solidFill>
                <a:latin typeface="Calibri" pitchFamily="34" charset="0"/>
                <a:ea typeface="Calibri" pitchFamily="34" charset="-122"/>
                <a:cs typeface="Calibri" pitchFamily="34" charset="-120"/>
              </a:rPr>
              <a:t>Pattern: </a:t>
            </a:r>
            <a:r>
              <a:rPr lang="en-US" sz="1000" dirty="0">
                <a:solidFill>
                  <a:srgbClr val="CBD5E1"/>
                </a:solidFill>
                <a:latin typeface="Calibri" pitchFamily="34" charset="0"/>
                <a:ea typeface="Calibri" pitchFamily="34" charset="-122"/>
                <a:cs typeface="Calibri" pitchFamily="34" charset="-120"/>
              </a:rPr>
              <a:t>Semantic drift is highly skewed — small % of vocabulary changes substantially</a:t>
            </a:r>
            <a:endParaRPr lang="en-US" sz="1000" dirty="0"/>
          </a:p>
        </p:txBody>
      </p:sp>
      <p:pic>
        <p:nvPicPr>
          <p:cNvPr id="13" name="Picture 12">
            <a:extLst>
              <a:ext uri="{FF2B5EF4-FFF2-40B4-BE49-F238E27FC236}">
                <a16:creationId xmlns:a16="http://schemas.microsoft.com/office/drawing/2014/main" id="{65D24340-7FEC-4896-4A4E-C9A4D00E23A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5144" y="786384"/>
            <a:ext cx="4114799" cy="3720302"/>
          </a:xfrm>
          <a:prstGeom prst="rect">
            <a:avLst/>
          </a:prstGeom>
          <a:noFill/>
          <a:ln>
            <a:noFill/>
          </a:ln>
        </p:spPr>
      </p:pic>
      <p:pic>
        <p:nvPicPr>
          <p:cNvPr id="22" name="Picture 21">
            <a:extLst>
              <a:ext uri="{FF2B5EF4-FFF2-40B4-BE49-F238E27FC236}">
                <a16:creationId xmlns:a16="http://schemas.microsoft.com/office/drawing/2014/main" id="{8DB941F5-1665-DC88-A4AE-2F98DDD99427}"/>
              </a:ext>
            </a:extLst>
          </p:cNvPr>
          <p:cNvPicPr>
            <a:picLocks noChangeAspect="1"/>
          </p:cNvPicPr>
          <p:nvPr/>
        </p:nvPicPr>
        <p:blipFill>
          <a:blip r:embed="rId4"/>
          <a:stretch>
            <a:fillRect/>
          </a:stretch>
        </p:blipFill>
        <p:spPr>
          <a:xfrm>
            <a:off x="4221287" y="967631"/>
            <a:ext cx="2225233" cy="1501270"/>
          </a:xfrm>
          <a:prstGeom prst="rect">
            <a:avLst/>
          </a:prstGeom>
        </p:spPr>
      </p:pic>
      <p:pic>
        <p:nvPicPr>
          <p:cNvPr id="24" name="Picture 23">
            <a:extLst>
              <a:ext uri="{FF2B5EF4-FFF2-40B4-BE49-F238E27FC236}">
                <a16:creationId xmlns:a16="http://schemas.microsoft.com/office/drawing/2014/main" id="{7DAE8144-EB09-D677-FAB6-59B2E675F0FE}"/>
              </a:ext>
            </a:extLst>
          </p:cNvPr>
          <p:cNvPicPr>
            <a:picLocks noChangeAspect="1"/>
          </p:cNvPicPr>
          <p:nvPr/>
        </p:nvPicPr>
        <p:blipFill>
          <a:blip r:embed="rId5"/>
          <a:stretch>
            <a:fillRect/>
          </a:stretch>
        </p:blipFill>
        <p:spPr>
          <a:xfrm>
            <a:off x="4190805" y="2571750"/>
            <a:ext cx="2255715" cy="14479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Deep Dive: "awful" — Pejoration Over Time</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Results — Semantic Change</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11</a:t>
            </a:r>
            <a:endParaRPr lang="en-US" sz="800" dirty="0"/>
          </a:p>
        </p:txBody>
      </p:sp>
      <p:sp>
        <p:nvSpPr>
          <p:cNvPr id="9" name="Shape 7"/>
          <p:cNvSpPr/>
          <p:nvPr/>
        </p:nvSpPr>
        <p:spPr>
          <a:xfrm>
            <a:off x="365760" y="868680"/>
            <a:ext cx="4114800" cy="365760"/>
          </a:xfrm>
          <a:prstGeom prst="rect">
            <a:avLst/>
          </a:prstGeom>
          <a:solidFill>
            <a:srgbClr val="0891B2"/>
          </a:solidFill>
          <a:ln/>
        </p:spPr>
      </p:sp>
      <p:sp>
        <p:nvSpPr>
          <p:cNvPr id="10" name="Text 8"/>
          <p:cNvSpPr/>
          <p:nvPr/>
        </p:nvSpPr>
        <p:spPr>
          <a:xfrm>
            <a:off x="457200" y="868680"/>
            <a:ext cx="3931920" cy="36576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"awful" — 1800s  (original positive/reverential sense)</a:t>
            </a:r>
            <a:endParaRPr lang="en-US" sz="1050" dirty="0"/>
          </a:p>
        </p:txBody>
      </p:sp>
      <p:sp>
        <p:nvSpPr>
          <p:cNvPr id="11" name="Shape 9"/>
          <p:cNvSpPr/>
          <p:nvPr/>
        </p:nvSpPr>
        <p:spPr>
          <a:xfrm>
            <a:off x="457200" y="1325880"/>
            <a:ext cx="1170432" cy="411480"/>
          </a:xfrm>
          <a:prstGeom prst="rect">
            <a:avLst/>
          </a:prstGeom>
          <a:solidFill>
            <a:srgbClr val="E0F2FE"/>
          </a:solidFill>
          <a:ln w="6350">
            <a:solidFill>
              <a:srgbClr val="0891B2"/>
            </a:solidFill>
            <a:prstDash val="solid"/>
          </a:ln>
        </p:spPr>
      </p:sp>
      <p:sp>
        <p:nvSpPr>
          <p:cNvPr id="12" name="Text 10"/>
          <p:cNvSpPr/>
          <p:nvPr/>
        </p:nvSpPr>
        <p:spPr>
          <a:xfrm>
            <a:off x="457200" y="1325880"/>
            <a:ext cx="1170432" cy="411480"/>
          </a:xfrm>
          <a:prstGeom prst="rect">
            <a:avLst/>
          </a:prstGeom>
          <a:noFill/>
          <a:ln/>
        </p:spPr>
        <p:txBody>
          <a:bodyPr wrap="square"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'homage'</a:t>
            </a:r>
            <a:endParaRPr lang="en-US" sz="1000" dirty="0"/>
          </a:p>
        </p:txBody>
      </p:sp>
      <p:sp>
        <p:nvSpPr>
          <p:cNvPr id="13" name="Shape 11"/>
          <p:cNvSpPr/>
          <p:nvPr/>
        </p:nvSpPr>
        <p:spPr>
          <a:xfrm>
            <a:off x="1755648" y="1325880"/>
            <a:ext cx="1170432" cy="411480"/>
          </a:xfrm>
          <a:prstGeom prst="rect">
            <a:avLst/>
          </a:prstGeom>
          <a:solidFill>
            <a:srgbClr val="E0F2FE"/>
          </a:solidFill>
          <a:ln w="6350">
            <a:solidFill>
              <a:srgbClr val="0891B2"/>
            </a:solidFill>
            <a:prstDash val="solid"/>
          </a:ln>
        </p:spPr>
      </p:sp>
      <p:sp>
        <p:nvSpPr>
          <p:cNvPr id="14" name="Text 12"/>
          <p:cNvSpPr/>
          <p:nvPr/>
        </p:nvSpPr>
        <p:spPr>
          <a:xfrm>
            <a:off x="1755648" y="1325880"/>
            <a:ext cx="1170432" cy="411480"/>
          </a:xfrm>
          <a:prstGeom prst="rect">
            <a:avLst/>
          </a:prstGeom>
          <a:noFill/>
          <a:ln/>
        </p:spPr>
        <p:txBody>
          <a:bodyPr wrap="square"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'defeat'</a:t>
            </a:r>
            <a:endParaRPr lang="en-US" sz="1000" dirty="0"/>
          </a:p>
        </p:txBody>
      </p:sp>
      <p:sp>
        <p:nvSpPr>
          <p:cNvPr id="15" name="Shape 13"/>
          <p:cNvSpPr/>
          <p:nvPr/>
        </p:nvSpPr>
        <p:spPr>
          <a:xfrm>
            <a:off x="3054096" y="1325880"/>
            <a:ext cx="1170432" cy="411480"/>
          </a:xfrm>
          <a:prstGeom prst="rect">
            <a:avLst/>
          </a:prstGeom>
          <a:solidFill>
            <a:srgbClr val="E0F2FE"/>
          </a:solidFill>
          <a:ln w="6350">
            <a:solidFill>
              <a:srgbClr val="0891B2"/>
            </a:solidFill>
            <a:prstDash val="solid"/>
          </a:ln>
        </p:spPr>
      </p:sp>
      <p:sp>
        <p:nvSpPr>
          <p:cNvPr id="16" name="Text 14"/>
          <p:cNvSpPr/>
          <p:nvPr/>
        </p:nvSpPr>
        <p:spPr>
          <a:xfrm>
            <a:off x="3054096" y="1325880"/>
            <a:ext cx="1170432" cy="411480"/>
          </a:xfrm>
          <a:prstGeom prst="rect">
            <a:avLst/>
          </a:prstGeom>
          <a:noFill/>
          <a:ln/>
        </p:spPr>
        <p:txBody>
          <a:bodyPr wrap="square"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'submission'</a:t>
            </a:r>
            <a:endParaRPr lang="en-US" sz="1000" dirty="0"/>
          </a:p>
        </p:txBody>
      </p:sp>
      <p:sp>
        <p:nvSpPr>
          <p:cNvPr id="17" name="Shape 15"/>
          <p:cNvSpPr/>
          <p:nvPr/>
        </p:nvSpPr>
        <p:spPr>
          <a:xfrm>
            <a:off x="457200" y="1874520"/>
            <a:ext cx="1170432" cy="411480"/>
          </a:xfrm>
          <a:prstGeom prst="rect">
            <a:avLst/>
          </a:prstGeom>
          <a:solidFill>
            <a:srgbClr val="E0F2FE"/>
          </a:solidFill>
          <a:ln w="6350">
            <a:solidFill>
              <a:srgbClr val="0891B2"/>
            </a:solidFill>
            <a:prstDash val="solid"/>
          </a:ln>
        </p:spPr>
      </p:sp>
      <p:sp>
        <p:nvSpPr>
          <p:cNvPr id="18" name="Text 16"/>
          <p:cNvSpPr/>
          <p:nvPr/>
        </p:nvSpPr>
        <p:spPr>
          <a:xfrm>
            <a:off x="457200" y="1874520"/>
            <a:ext cx="1170432" cy="411480"/>
          </a:xfrm>
          <a:prstGeom prst="rect">
            <a:avLst/>
          </a:prstGeom>
          <a:noFill/>
          <a:ln/>
        </p:spPr>
        <p:txBody>
          <a:bodyPr wrap="square"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'conveyed'</a:t>
            </a:r>
            <a:endParaRPr lang="en-US" sz="1000" dirty="0"/>
          </a:p>
        </p:txBody>
      </p:sp>
      <p:sp>
        <p:nvSpPr>
          <p:cNvPr id="21" name="Shape 19"/>
          <p:cNvSpPr/>
          <p:nvPr/>
        </p:nvSpPr>
        <p:spPr>
          <a:xfrm>
            <a:off x="1755648" y="1860804"/>
            <a:ext cx="1170432" cy="411480"/>
          </a:xfrm>
          <a:prstGeom prst="rect">
            <a:avLst/>
          </a:prstGeom>
          <a:solidFill>
            <a:srgbClr val="E0F2FE"/>
          </a:solidFill>
          <a:ln w="6350">
            <a:solidFill>
              <a:srgbClr val="0891B2"/>
            </a:solidFill>
            <a:prstDash val="solid"/>
          </a:ln>
        </p:spPr>
      </p:sp>
      <p:sp>
        <p:nvSpPr>
          <p:cNvPr id="22" name="Text 20"/>
          <p:cNvSpPr/>
          <p:nvPr/>
        </p:nvSpPr>
        <p:spPr>
          <a:xfrm>
            <a:off x="1755648" y="1860804"/>
            <a:ext cx="1170432" cy="411480"/>
          </a:xfrm>
          <a:prstGeom prst="rect">
            <a:avLst/>
          </a:prstGeom>
          <a:noFill/>
          <a:ln/>
        </p:spPr>
        <p:txBody>
          <a:bodyPr wrap="square" rtlCol="0" anchor="ctr"/>
          <a:lstStyle/>
          <a:p>
            <a:pPr marL="0" indent="0" algn="ctr">
              <a:buNone/>
            </a:pPr>
            <a:r>
              <a:rPr lang="en-US" sz="1000" dirty="0"/>
              <a:t>'helpless'</a:t>
            </a:r>
          </a:p>
        </p:txBody>
      </p:sp>
      <p:sp>
        <p:nvSpPr>
          <p:cNvPr id="23" name="Shape 21"/>
          <p:cNvSpPr/>
          <p:nvPr/>
        </p:nvSpPr>
        <p:spPr>
          <a:xfrm>
            <a:off x="457200" y="2423160"/>
            <a:ext cx="1170432" cy="411480"/>
          </a:xfrm>
          <a:prstGeom prst="rect">
            <a:avLst/>
          </a:prstGeom>
          <a:solidFill>
            <a:srgbClr val="E0F2FE"/>
          </a:solidFill>
          <a:ln w="6350">
            <a:solidFill>
              <a:srgbClr val="0891B2"/>
            </a:solidFill>
            <a:prstDash val="solid"/>
          </a:ln>
        </p:spPr>
      </p:sp>
      <p:sp>
        <p:nvSpPr>
          <p:cNvPr id="24" name="Text 22"/>
          <p:cNvSpPr/>
          <p:nvPr/>
        </p:nvSpPr>
        <p:spPr>
          <a:xfrm>
            <a:off x="457200" y="2423160"/>
            <a:ext cx="1170432" cy="411480"/>
          </a:xfrm>
          <a:prstGeom prst="rect">
            <a:avLst/>
          </a:prstGeom>
          <a:noFill/>
          <a:ln/>
        </p:spPr>
        <p:txBody>
          <a:bodyPr wrap="square"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'responsibility'</a:t>
            </a:r>
            <a:endParaRPr lang="en-US" sz="1000" dirty="0"/>
          </a:p>
        </p:txBody>
      </p:sp>
      <p:sp>
        <p:nvSpPr>
          <p:cNvPr id="25" name="Shape 23"/>
          <p:cNvSpPr/>
          <p:nvPr/>
        </p:nvSpPr>
        <p:spPr>
          <a:xfrm>
            <a:off x="3054096" y="1901952"/>
            <a:ext cx="1170432" cy="411480"/>
          </a:xfrm>
          <a:prstGeom prst="rect">
            <a:avLst/>
          </a:prstGeom>
          <a:solidFill>
            <a:srgbClr val="E0F2FE"/>
          </a:solidFill>
          <a:ln w="6350">
            <a:solidFill>
              <a:srgbClr val="0891B2"/>
            </a:solidFill>
            <a:prstDash val="solid"/>
          </a:ln>
        </p:spPr>
      </p:sp>
      <p:sp>
        <p:nvSpPr>
          <p:cNvPr id="26" name="Text 24"/>
          <p:cNvSpPr/>
          <p:nvPr/>
        </p:nvSpPr>
        <p:spPr>
          <a:xfrm>
            <a:off x="3054096" y="1888309"/>
            <a:ext cx="1170432" cy="411480"/>
          </a:xfrm>
          <a:prstGeom prst="rect">
            <a:avLst/>
          </a:prstGeom>
          <a:noFill/>
          <a:ln/>
        </p:spPr>
        <p:txBody>
          <a:bodyPr wrap="square" rtlCol="0" anchor="ctr"/>
          <a:lstStyle/>
          <a:p>
            <a:pPr marL="0" indent="0" algn="ctr">
              <a:buNone/>
            </a:pPr>
            <a:r>
              <a:rPr lang="en-US" sz="1000" dirty="0">
                <a:solidFill>
                  <a:srgbClr val="1E3A5F"/>
                </a:solidFill>
                <a:latin typeface="Calibri" pitchFamily="34" charset="0"/>
                <a:ea typeface="Calibri" pitchFamily="34" charset="-122"/>
                <a:cs typeface="Calibri" pitchFamily="34" charset="-120"/>
              </a:rPr>
              <a:t>'hatred'</a:t>
            </a:r>
            <a:endParaRPr lang="en-US" sz="1000" dirty="0"/>
          </a:p>
        </p:txBody>
      </p:sp>
      <p:sp>
        <p:nvSpPr>
          <p:cNvPr id="28" name="Text 26"/>
          <p:cNvSpPr/>
          <p:nvPr/>
        </p:nvSpPr>
        <p:spPr>
          <a:xfrm>
            <a:off x="3054096" y="2423160"/>
            <a:ext cx="1170432" cy="411480"/>
          </a:xfrm>
          <a:prstGeom prst="rect">
            <a:avLst/>
          </a:prstGeom>
          <a:noFill/>
          <a:ln/>
        </p:spPr>
        <p:txBody>
          <a:bodyPr wrap="square" rtlCol="0" anchor="ctr"/>
          <a:lstStyle/>
          <a:p>
            <a:pPr marL="0" indent="0" algn="ctr">
              <a:buNone/>
            </a:pPr>
            <a:endParaRPr lang="en-US" sz="1000" dirty="0"/>
          </a:p>
        </p:txBody>
      </p:sp>
      <p:sp>
        <p:nvSpPr>
          <p:cNvPr id="29" name="Text 27"/>
          <p:cNvSpPr/>
          <p:nvPr/>
        </p:nvSpPr>
        <p:spPr>
          <a:xfrm>
            <a:off x="457200" y="2999232"/>
            <a:ext cx="3840480" cy="685800"/>
          </a:xfrm>
          <a:prstGeom prst="rect">
            <a:avLst/>
          </a:prstGeom>
          <a:noFill/>
          <a:ln/>
        </p:spPr>
        <p:txBody>
          <a:bodyPr wrap="square" rtlCol="0" anchor="ctr"/>
          <a:lstStyle/>
          <a:p>
            <a:pPr marL="0" indent="0">
              <a:buNone/>
            </a:pPr>
            <a:r>
              <a:rPr lang="en-US" sz="950" i="1" dirty="0">
                <a:solidFill>
                  <a:srgbClr val="0891B2"/>
                </a:solidFill>
                <a:latin typeface="Calibri" pitchFamily="34" charset="0"/>
                <a:ea typeface="Calibri" pitchFamily="34" charset="-122"/>
                <a:cs typeface="Calibri" pitchFamily="34" charset="-120"/>
              </a:rPr>
              <a:t>→ </a:t>
            </a:r>
            <a:r>
              <a:rPr lang="en-US" sz="950" b="1" i="1" dirty="0">
                <a:solidFill>
                  <a:srgbClr val="0891B2"/>
                </a:solidFill>
                <a:latin typeface="Calibri" pitchFamily="34" charset="0"/>
                <a:ea typeface="Calibri" pitchFamily="34" charset="-122"/>
                <a:cs typeface="Calibri" pitchFamily="34" charset="-120"/>
              </a:rPr>
              <a:t>Meaning: helpless</a:t>
            </a:r>
            <a:endParaRPr lang="en-US" sz="950" b="1" dirty="0"/>
          </a:p>
        </p:txBody>
      </p:sp>
      <p:sp>
        <p:nvSpPr>
          <p:cNvPr id="30" name="Shape 28"/>
          <p:cNvSpPr/>
          <p:nvPr/>
        </p:nvSpPr>
        <p:spPr>
          <a:xfrm>
            <a:off x="4663440" y="868680"/>
            <a:ext cx="4114800" cy="2926080"/>
          </a:xfrm>
          <a:prstGeom prst="rect">
            <a:avLst/>
          </a:prstGeom>
          <a:solidFill>
            <a:srgbClr val="FFFFFF"/>
          </a:solidFill>
          <a:ln w="19050">
            <a:solidFill>
              <a:srgbClr val="DC2626"/>
            </a:solidFill>
            <a:prstDash val="solid"/>
          </a:ln>
        </p:spPr>
      </p:sp>
      <p:sp>
        <p:nvSpPr>
          <p:cNvPr id="31" name="Shape 29"/>
          <p:cNvSpPr/>
          <p:nvPr/>
        </p:nvSpPr>
        <p:spPr>
          <a:xfrm>
            <a:off x="4663440" y="868680"/>
            <a:ext cx="4114800" cy="365760"/>
          </a:xfrm>
          <a:prstGeom prst="rect">
            <a:avLst/>
          </a:prstGeom>
          <a:solidFill>
            <a:srgbClr val="DC2626"/>
          </a:solidFill>
          <a:ln/>
        </p:spPr>
      </p:sp>
      <p:sp>
        <p:nvSpPr>
          <p:cNvPr id="32" name="Text 30"/>
          <p:cNvSpPr/>
          <p:nvPr/>
        </p:nvSpPr>
        <p:spPr>
          <a:xfrm>
            <a:off x="4754880" y="868680"/>
            <a:ext cx="3931920" cy="365760"/>
          </a:xfrm>
          <a:prstGeom prst="rect">
            <a:avLst/>
          </a:prstGeom>
          <a:noFill/>
          <a:ln/>
        </p:spPr>
        <p:txBody>
          <a:bodyPr wrap="square"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"awful" — 1960s  (pejorated, intensifier sense)</a:t>
            </a:r>
            <a:endParaRPr lang="en-US" sz="1050" dirty="0"/>
          </a:p>
        </p:txBody>
      </p:sp>
      <p:sp>
        <p:nvSpPr>
          <p:cNvPr id="33" name="Shape 31"/>
          <p:cNvSpPr/>
          <p:nvPr/>
        </p:nvSpPr>
        <p:spPr>
          <a:xfrm>
            <a:off x="4663440" y="1298448"/>
            <a:ext cx="4114800" cy="1883664"/>
          </a:xfrm>
          <a:prstGeom prst="rect">
            <a:avLst/>
          </a:prstGeom>
          <a:solidFill>
            <a:srgbClr val="FFFBEB"/>
          </a:solidFill>
          <a:ln w="19050">
            <a:solidFill>
              <a:srgbClr val="D97706"/>
            </a:solidFill>
            <a:prstDash val="dash"/>
          </a:ln>
        </p:spPr>
      </p:sp>
      <p:sp>
        <p:nvSpPr>
          <p:cNvPr id="34" name="Text 32"/>
          <p:cNvSpPr/>
          <p:nvPr/>
        </p:nvSpPr>
        <p:spPr>
          <a:xfrm>
            <a:off x="4663440" y="1298448"/>
            <a:ext cx="4114800" cy="1883664"/>
          </a:xfrm>
          <a:prstGeom prst="rect">
            <a:avLst/>
          </a:prstGeom>
          <a:noFill/>
          <a:ln/>
        </p:spPr>
        <p:txBody>
          <a:bodyPr wrap="square" rtlCol="0" anchor="ctr"/>
          <a:lstStyle/>
          <a:p>
            <a:pPr marL="0" indent="0" algn="ctr">
              <a:buNone/>
            </a:pPr>
            <a:r>
              <a:rPr lang="en-US" sz="1100" b="1" dirty="0">
                <a:solidFill>
                  <a:srgbClr val="D97706"/>
                </a:solidFill>
                <a:latin typeface="Calibri" pitchFamily="34" charset="0"/>
                <a:ea typeface="Calibri" pitchFamily="34" charset="-122"/>
                <a:cs typeface="Calibri" pitchFamily="34" charset="-120"/>
              </a:rPr>
              <a:t>['impressed', 'acted', 'treatment', 'meek', 'communion', 'earthly', 'cloud', 'deliberate']</a:t>
            </a:r>
            <a:endParaRPr lang="en-US" sz="1100" dirty="0"/>
          </a:p>
        </p:txBody>
      </p:sp>
      <p:sp>
        <p:nvSpPr>
          <p:cNvPr id="35" name="Text 33"/>
          <p:cNvSpPr/>
          <p:nvPr/>
        </p:nvSpPr>
        <p:spPr>
          <a:xfrm>
            <a:off x="4754880" y="2999232"/>
            <a:ext cx="3840480" cy="685800"/>
          </a:xfrm>
          <a:prstGeom prst="rect">
            <a:avLst/>
          </a:prstGeom>
          <a:noFill/>
          <a:ln/>
        </p:spPr>
        <p:txBody>
          <a:bodyPr wrap="square" rtlCol="0" anchor="ctr"/>
          <a:lstStyle/>
          <a:p>
            <a:pPr marL="0" indent="0">
              <a:buNone/>
            </a:pPr>
            <a:r>
              <a:rPr lang="en-US" sz="950" i="1" dirty="0">
                <a:solidFill>
                  <a:srgbClr val="D97706"/>
                </a:solidFill>
                <a:latin typeface="Calibri" pitchFamily="34" charset="0"/>
                <a:ea typeface="Calibri" pitchFamily="34" charset="-122"/>
                <a:cs typeface="Calibri" pitchFamily="34" charset="-120"/>
              </a:rPr>
              <a:t>→ </a:t>
            </a:r>
            <a:r>
              <a:rPr lang="en-US" sz="950" b="1" i="1" dirty="0">
                <a:solidFill>
                  <a:srgbClr val="D97706"/>
                </a:solidFill>
                <a:latin typeface="Calibri" pitchFamily="34" charset="0"/>
                <a:ea typeface="Calibri" pitchFamily="34" charset="-122"/>
                <a:cs typeface="Calibri" pitchFamily="34" charset="-120"/>
              </a:rPr>
              <a:t>Meaning: Good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Deep Dive: "nice" &amp; "gay" — Amelioration and Specialisation</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Results — Semantic Change</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12</a:t>
            </a:r>
            <a:endParaRPr lang="en-US" sz="800" dirty="0"/>
          </a:p>
        </p:txBody>
      </p:sp>
      <p:sp>
        <p:nvSpPr>
          <p:cNvPr id="8" name="Text 6"/>
          <p:cNvSpPr/>
          <p:nvPr/>
        </p:nvSpPr>
        <p:spPr>
          <a:xfrm>
            <a:off x="365760" y="868680"/>
            <a:ext cx="4206240" cy="274320"/>
          </a:xfrm>
          <a:prstGeom prst="rect">
            <a:avLst/>
          </a:prstGeom>
          <a:noFill/>
          <a:ln/>
        </p:spPr>
        <p:txBody>
          <a:bodyPr wrap="square" rtlCol="0" anchor="ctr"/>
          <a:lstStyle/>
          <a:p>
            <a:pPr marL="0" indent="0">
              <a:buNone/>
            </a:pPr>
            <a:r>
              <a:rPr lang="en-US" sz="1400" b="1" dirty="0">
                <a:solidFill>
                  <a:srgbClr val="0891B2"/>
                </a:solidFill>
                <a:latin typeface="Calibri" pitchFamily="34" charset="0"/>
                <a:ea typeface="Calibri" pitchFamily="34" charset="-122"/>
                <a:cs typeface="Calibri" pitchFamily="34" charset="-120"/>
              </a:rPr>
              <a:t>“virtue"</a:t>
            </a:r>
            <a:endParaRPr lang="en-US" sz="1400" dirty="0"/>
          </a:p>
        </p:txBody>
      </p:sp>
      <p:sp>
        <p:nvSpPr>
          <p:cNvPr id="10" name="Shape 8"/>
          <p:cNvSpPr/>
          <p:nvPr/>
        </p:nvSpPr>
        <p:spPr>
          <a:xfrm>
            <a:off x="365760" y="1463040"/>
            <a:ext cx="4206240" cy="731520"/>
          </a:xfrm>
          <a:prstGeom prst="rect">
            <a:avLst/>
          </a:prstGeom>
          <a:solidFill>
            <a:srgbClr val="FFFBEB"/>
          </a:solidFill>
          <a:ln w="19050">
            <a:solidFill>
              <a:srgbClr val="D97706"/>
            </a:solidFill>
            <a:prstDash val="dash"/>
          </a:ln>
        </p:spPr>
      </p:sp>
      <p:sp>
        <p:nvSpPr>
          <p:cNvPr id="11" name="Text 9"/>
          <p:cNvSpPr/>
          <p:nvPr/>
        </p:nvSpPr>
        <p:spPr>
          <a:xfrm>
            <a:off x="365760" y="1463040"/>
            <a:ext cx="4206240" cy="731520"/>
          </a:xfrm>
          <a:prstGeom prst="rect">
            <a:avLst/>
          </a:prstGeom>
          <a:noFill/>
          <a:ln/>
        </p:spPr>
        <p:txBody>
          <a:bodyPr wrap="square" rtlCol="0" anchor="ctr"/>
          <a:lstStyle/>
          <a:p>
            <a:pPr marL="0" indent="0" algn="ctr">
              <a:buNone/>
            </a:pPr>
            <a:r>
              <a:rPr lang="en-US" sz="1100" b="1" dirty="0">
                <a:solidFill>
                  <a:srgbClr val="D97706"/>
                </a:solidFill>
                <a:latin typeface="Calibri" pitchFamily="34" charset="0"/>
                <a:ea typeface="Calibri" pitchFamily="34" charset="-122"/>
                <a:cs typeface="Calibri" pitchFamily="34" charset="-120"/>
              </a:rPr>
              <a:t>1880 : ['goodness', 'selfish', 'devotion', 'loves', 'prophecy', 'deity', 'self', 'impress']</a:t>
            </a:r>
            <a:endParaRPr lang="en-US" sz="1100" dirty="0"/>
          </a:p>
        </p:txBody>
      </p:sp>
      <p:sp>
        <p:nvSpPr>
          <p:cNvPr id="12" name="Shape 10"/>
          <p:cNvSpPr/>
          <p:nvPr/>
        </p:nvSpPr>
        <p:spPr>
          <a:xfrm>
            <a:off x="365760" y="2286000"/>
            <a:ext cx="4206240" cy="731520"/>
          </a:xfrm>
          <a:prstGeom prst="rect">
            <a:avLst/>
          </a:prstGeom>
          <a:solidFill>
            <a:srgbClr val="FFFBEB"/>
          </a:solidFill>
          <a:ln w="19050">
            <a:solidFill>
              <a:srgbClr val="D97706"/>
            </a:solidFill>
            <a:prstDash val="dash"/>
          </a:ln>
        </p:spPr>
      </p:sp>
      <p:sp>
        <p:nvSpPr>
          <p:cNvPr id="13" name="Text 11"/>
          <p:cNvSpPr/>
          <p:nvPr/>
        </p:nvSpPr>
        <p:spPr>
          <a:xfrm>
            <a:off x="365760" y="2286000"/>
            <a:ext cx="4206240" cy="731520"/>
          </a:xfrm>
          <a:prstGeom prst="rect">
            <a:avLst/>
          </a:prstGeom>
          <a:noFill/>
          <a:ln/>
        </p:spPr>
        <p:txBody>
          <a:bodyPr wrap="square" rtlCol="0" anchor="ctr"/>
          <a:lstStyle/>
          <a:p>
            <a:pPr algn="ctr"/>
            <a:r>
              <a:rPr lang="en-US" sz="1100" b="1" dirty="0">
                <a:solidFill>
                  <a:srgbClr val="D97706"/>
                </a:solidFill>
                <a:latin typeface="Calibri" pitchFamily="34" charset="0"/>
                <a:ea typeface="Calibri" pitchFamily="34" charset="-122"/>
                <a:cs typeface="Calibri" pitchFamily="34" charset="-120"/>
              </a:rPr>
              <a:t>1920 : ['hunger', 'personality', 'sacrifice', 'prophecy', 'universe', 'doctrine', 'passion', 'trust']</a:t>
            </a:r>
            <a:endParaRPr lang="en-US" sz="1100" dirty="0"/>
          </a:p>
        </p:txBody>
      </p:sp>
      <p:sp>
        <p:nvSpPr>
          <p:cNvPr id="14" name="Text 12"/>
          <p:cNvSpPr/>
          <p:nvPr/>
        </p:nvSpPr>
        <p:spPr>
          <a:xfrm>
            <a:off x="365760" y="3090672"/>
            <a:ext cx="4206240" cy="731520"/>
          </a:xfrm>
          <a:prstGeom prst="rect">
            <a:avLst/>
          </a:prstGeom>
          <a:noFill/>
          <a:ln/>
        </p:spPr>
        <p:txBody>
          <a:bodyPr wrap="square" rtlCol="0" anchor="ctr"/>
          <a:lstStyle/>
          <a:p>
            <a:pPr marL="0" indent="0">
              <a:buNone/>
            </a:pPr>
            <a:endParaRPr lang="en-US" sz="950" dirty="0"/>
          </a:p>
        </p:txBody>
      </p:sp>
      <p:sp>
        <p:nvSpPr>
          <p:cNvPr id="15" name="Shape 13"/>
          <p:cNvSpPr/>
          <p:nvPr/>
        </p:nvSpPr>
        <p:spPr>
          <a:xfrm>
            <a:off x="4663440" y="868680"/>
            <a:ext cx="0" cy="3017520"/>
          </a:xfrm>
          <a:prstGeom prst="line">
            <a:avLst/>
          </a:prstGeom>
          <a:noFill/>
          <a:ln w="12700">
            <a:solidFill>
              <a:srgbClr val="CBD5E1"/>
            </a:solidFill>
            <a:prstDash val="solid"/>
          </a:ln>
        </p:spPr>
      </p:sp>
      <p:sp>
        <p:nvSpPr>
          <p:cNvPr id="16" name="Text 14"/>
          <p:cNvSpPr/>
          <p:nvPr/>
        </p:nvSpPr>
        <p:spPr>
          <a:xfrm>
            <a:off x="4846320" y="868680"/>
            <a:ext cx="3931920" cy="274320"/>
          </a:xfrm>
          <a:prstGeom prst="rect">
            <a:avLst/>
          </a:prstGeom>
          <a:noFill/>
          <a:ln/>
        </p:spPr>
        <p:txBody>
          <a:bodyPr wrap="square" rtlCol="0" anchor="ctr"/>
          <a:lstStyle/>
          <a:p>
            <a:pPr marL="0" indent="0">
              <a:buNone/>
            </a:pPr>
            <a:r>
              <a:rPr lang="en-US" sz="1400" b="1" dirty="0">
                <a:solidFill>
                  <a:srgbClr val="0891B2"/>
                </a:solidFill>
                <a:latin typeface="Calibri" pitchFamily="34" charset="0"/>
                <a:ea typeface="Calibri" pitchFamily="34" charset="-122"/>
                <a:cs typeface="Calibri" pitchFamily="34" charset="-120"/>
              </a:rPr>
              <a:t>“romance"</a:t>
            </a:r>
            <a:endParaRPr lang="en-US" sz="1400" dirty="0"/>
          </a:p>
        </p:txBody>
      </p:sp>
      <p:sp>
        <p:nvSpPr>
          <p:cNvPr id="18" name="Shape 16"/>
          <p:cNvSpPr/>
          <p:nvPr/>
        </p:nvSpPr>
        <p:spPr>
          <a:xfrm>
            <a:off x="4846320" y="1463040"/>
            <a:ext cx="3931920" cy="731520"/>
          </a:xfrm>
          <a:prstGeom prst="rect">
            <a:avLst/>
          </a:prstGeom>
          <a:solidFill>
            <a:srgbClr val="FFFBEB"/>
          </a:solidFill>
          <a:ln w="19050">
            <a:solidFill>
              <a:srgbClr val="D97706"/>
            </a:solidFill>
            <a:prstDash val="dash"/>
          </a:ln>
        </p:spPr>
      </p:sp>
      <p:sp>
        <p:nvSpPr>
          <p:cNvPr id="19" name="Text 17"/>
          <p:cNvSpPr/>
          <p:nvPr/>
        </p:nvSpPr>
        <p:spPr>
          <a:xfrm>
            <a:off x="4846320" y="1463040"/>
            <a:ext cx="3931920" cy="731520"/>
          </a:xfrm>
          <a:prstGeom prst="rect">
            <a:avLst/>
          </a:prstGeom>
          <a:noFill/>
          <a:ln/>
        </p:spPr>
        <p:txBody>
          <a:bodyPr wrap="square" rtlCol="0" anchor="ctr"/>
          <a:lstStyle/>
          <a:p>
            <a:pPr marL="0" indent="0" algn="ctr">
              <a:buNone/>
            </a:pPr>
            <a:r>
              <a:rPr lang="en-US" sz="1100" b="1" dirty="0">
                <a:solidFill>
                  <a:srgbClr val="D97706"/>
                </a:solidFill>
                <a:latin typeface="Calibri" pitchFamily="34" charset="0"/>
                <a:ea typeface="Calibri" pitchFamily="34" charset="-122"/>
                <a:cs typeface="Calibri" pitchFamily="34" charset="-120"/>
              </a:rPr>
              <a:t>1840 : ['regarding', 'association', 'cabinet', 'current', 'class', 'fullest', 'historic', 'fascinating']</a:t>
            </a:r>
            <a:endParaRPr lang="en-US" sz="1100" dirty="0"/>
          </a:p>
        </p:txBody>
      </p:sp>
      <p:sp>
        <p:nvSpPr>
          <p:cNvPr id="20" name="Shape 18"/>
          <p:cNvSpPr/>
          <p:nvPr/>
        </p:nvSpPr>
        <p:spPr>
          <a:xfrm>
            <a:off x="4846320" y="2286000"/>
            <a:ext cx="3931920" cy="731520"/>
          </a:xfrm>
          <a:prstGeom prst="rect">
            <a:avLst/>
          </a:prstGeom>
          <a:solidFill>
            <a:srgbClr val="FFFBEB"/>
          </a:solidFill>
          <a:ln w="19050">
            <a:solidFill>
              <a:srgbClr val="D97706"/>
            </a:solidFill>
            <a:prstDash val="dash"/>
          </a:ln>
        </p:spPr>
      </p:sp>
      <p:sp>
        <p:nvSpPr>
          <p:cNvPr id="21" name="Text 19"/>
          <p:cNvSpPr/>
          <p:nvPr/>
        </p:nvSpPr>
        <p:spPr>
          <a:xfrm>
            <a:off x="4846320" y="2286000"/>
            <a:ext cx="3931920" cy="731520"/>
          </a:xfrm>
          <a:prstGeom prst="rect">
            <a:avLst/>
          </a:prstGeom>
          <a:noFill/>
          <a:ln/>
        </p:spPr>
        <p:txBody>
          <a:bodyPr wrap="square" rtlCol="0" anchor="ctr"/>
          <a:lstStyle/>
          <a:p>
            <a:pPr marL="0" indent="0" algn="ctr">
              <a:buNone/>
            </a:pPr>
            <a:r>
              <a:rPr lang="en-US" sz="1100" b="1" dirty="0">
                <a:solidFill>
                  <a:srgbClr val="D97706"/>
                </a:solidFill>
                <a:latin typeface="Calibri" pitchFamily="34" charset="0"/>
                <a:ea typeface="Calibri" pitchFamily="34" charset="-122"/>
                <a:cs typeface="Calibri" pitchFamily="34" charset="-120"/>
              </a:rPr>
              <a:t>1920 : ['preface', 'vol', 'romantic', 'class', 'deals', 'basis', 'origin', 'catholic']</a:t>
            </a:r>
            <a:endParaRPr lang="en-US" sz="1100" dirty="0"/>
          </a:p>
        </p:txBody>
      </p:sp>
      <p:sp>
        <p:nvSpPr>
          <p:cNvPr id="22" name="Text 20"/>
          <p:cNvSpPr/>
          <p:nvPr/>
        </p:nvSpPr>
        <p:spPr>
          <a:xfrm>
            <a:off x="4846320" y="3090672"/>
            <a:ext cx="3931920" cy="731520"/>
          </a:xfrm>
          <a:prstGeom prst="rect">
            <a:avLst/>
          </a:prstGeom>
          <a:noFill/>
          <a:ln/>
        </p:spPr>
        <p:txBody>
          <a:bodyPr wrap="square" rtlCol="0" anchor="ctr"/>
          <a:lstStyle/>
          <a:p>
            <a:pPr marL="0" indent="0">
              <a:buNone/>
            </a:pP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Semantic Evolution Timeline</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Results — Semantic Change</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13</a:t>
            </a:r>
            <a:endParaRPr lang="en-US" sz="800" dirty="0"/>
          </a:p>
        </p:txBody>
      </p:sp>
      <p:sp>
        <p:nvSpPr>
          <p:cNvPr id="10" name="Shape 8"/>
          <p:cNvSpPr/>
          <p:nvPr/>
        </p:nvSpPr>
        <p:spPr>
          <a:xfrm>
            <a:off x="6748272" y="841248"/>
            <a:ext cx="2029968" cy="3474720"/>
          </a:xfrm>
          <a:prstGeom prst="rect">
            <a:avLst/>
          </a:prstGeom>
          <a:solidFill>
            <a:srgbClr val="1E3A5F"/>
          </a:solidFill>
          <a:ln/>
        </p:spPr>
      </p:sp>
      <p:sp>
        <p:nvSpPr>
          <p:cNvPr id="11" name="Text 9"/>
          <p:cNvSpPr/>
          <p:nvPr/>
        </p:nvSpPr>
        <p:spPr>
          <a:xfrm>
            <a:off x="6839712" y="886968"/>
            <a:ext cx="1828800" cy="274320"/>
          </a:xfrm>
          <a:prstGeom prst="rect">
            <a:avLst/>
          </a:prstGeom>
          <a:noFill/>
          <a:ln/>
        </p:spPr>
        <p:txBody>
          <a:bodyPr wrap="square" rtlCol="0" anchor="ctr"/>
          <a:lstStyle/>
          <a:p>
            <a:pPr marL="0" indent="0">
              <a:buNone/>
            </a:pPr>
            <a:r>
              <a:rPr lang="en-US" sz="1200" b="1" dirty="0">
                <a:solidFill>
                  <a:srgbClr val="0891B2"/>
                </a:solidFill>
                <a:latin typeface="Calibri" pitchFamily="34" charset="0"/>
                <a:ea typeface="Calibri" pitchFamily="34" charset="-122"/>
                <a:cs typeface="Calibri" pitchFamily="34" charset="-120"/>
              </a:rPr>
              <a:t>Reading the Chart</a:t>
            </a:r>
            <a:endParaRPr lang="en-US" sz="1200" dirty="0"/>
          </a:p>
        </p:txBody>
      </p:sp>
      <p:sp>
        <p:nvSpPr>
          <p:cNvPr id="12" name="Text 10"/>
          <p:cNvSpPr/>
          <p:nvPr/>
        </p:nvSpPr>
        <p:spPr>
          <a:xfrm>
            <a:off x="6839712" y="1234440"/>
            <a:ext cx="1828800" cy="2971800"/>
          </a:xfrm>
          <a:prstGeom prst="rect">
            <a:avLst/>
          </a:prstGeom>
          <a:noFill/>
          <a:ln/>
        </p:spPr>
        <p:txBody>
          <a:bodyPr wrap="square" rtlCol="0" anchor="t"/>
          <a:lstStyle/>
          <a:p>
            <a:pPr marL="0" indent="0">
              <a:buNone/>
            </a:pPr>
            <a:r>
              <a:rPr lang="en-US" sz="950" dirty="0">
                <a:solidFill>
                  <a:srgbClr val="CBD5E1"/>
                </a:solidFill>
                <a:latin typeface="Calibri" pitchFamily="34" charset="0"/>
                <a:ea typeface="Calibri" pitchFamily="34" charset="-122"/>
                <a:cs typeface="Calibri" pitchFamily="34" charset="-120"/>
              </a:rPr>
              <a:t>Y-axis: Cosine distance from the word's 1800s vector.</a:t>
            </a:r>
            <a:endParaRPr lang="en-US" sz="950" dirty="0"/>
          </a:p>
          <a:p>
            <a:pPr marL="0" indent="0">
              <a:buNone/>
            </a:pP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A flat line = stable meaning.</a:t>
            </a:r>
            <a:endParaRPr lang="en-US" sz="950" dirty="0"/>
          </a:p>
          <a:p>
            <a:pPr marL="0" indent="0">
              <a:buNone/>
            </a:pP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A rising line = increasing drift from original meaning.</a:t>
            </a:r>
            <a:endParaRPr lang="en-US" sz="950" dirty="0"/>
          </a:p>
          <a:p>
            <a:pPr marL="0" indent="0">
              <a:buNone/>
            </a:pP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Steep rise after a specific period = a particular era drove the change.</a:t>
            </a:r>
            <a:endParaRPr lang="en-US" sz="950" dirty="0"/>
          </a:p>
          <a:p>
            <a:pPr marL="0" indent="0">
              <a:buNone/>
            </a:pP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It reveals how dramatically the word awful deviated from it’s original meaning to something entirely different in </a:t>
            </a:r>
            <a:r>
              <a:rPr lang="en-US" sz="950" dirty="0" err="1">
                <a:solidFill>
                  <a:srgbClr val="CBD5E1"/>
                </a:solidFill>
                <a:latin typeface="Calibri" pitchFamily="34" charset="0"/>
                <a:ea typeface="Calibri" pitchFamily="34" charset="-122"/>
                <a:cs typeface="Calibri" pitchFamily="34" charset="-120"/>
              </a:rPr>
              <a:t>1880s</a:t>
            </a:r>
            <a:r>
              <a:rPr lang="en-US" sz="950" dirty="0">
                <a:solidFill>
                  <a:srgbClr val="CBD5E1"/>
                </a:solidFill>
                <a:latin typeface="Calibri" pitchFamily="34" charset="0"/>
                <a:ea typeface="Calibri" pitchFamily="34" charset="-122"/>
                <a:cs typeface="Calibri" pitchFamily="34" charset="-120"/>
              </a:rPr>
              <a:t> and then shifted back to its origins in </a:t>
            </a:r>
            <a:r>
              <a:rPr lang="en-US" sz="950" dirty="0" err="1">
                <a:solidFill>
                  <a:srgbClr val="CBD5E1"/>
                </a:solidFill>
                <a:latin typeface="Calibri" pitchFamily="34" charset="0"/>
                <a:ea typeface="Calibri" pitchFamily="34" charset="-122"/>
                <a:cs typeface="Calibri" pitchFamily="34" charset="-120"/>
              </a:rPr>
              <a:t>1940s</a:t>
            </a:r>
            <a:endParaRPr lang="en-US" sz="950" dirty="0"/>
          </a:p>
        </p:txBody>
      </p:sp>
      <p:sp>
        <p:nvSpPr>
          <p:cNvPr id="13" name="Shape 11"/>
          <p:cNvSpPr/>
          <p:nvPr/>
        </p:nvSpPr>
        <p:spPr>
          <a:xfrm>
            <a:off x="365760" y="4407408"/>
            <a:ext cx="6217920" cy="530352"/>
          </a:xfrm>
          <a:prstGeom prst="rect">
            <a:avLst/>
          </a:prstGeom>
          <a:solidFill>
            <a:srgbClr val="FFFBEB"/>
          </a:solidFill>
          <a:ln w="19050">
            <a:solidFill>
              <a:srgbClr val="D97706"/>
            </a:solidFill>
            <a:prstDash val="dash"/>
          </a:ln>
        </p:spPr>
      </p:sp>
      <p:sp>
        <p:nvSpPr>
          <p:cNvPr id="14" name="Text 12"/>
          <p:cNvSpPr/>
          <p:nvPr/>
        </p:nvSpPr>
        <p:spPr>
          <a:xfrm>
            <a:off x="365760" y="4407408"/>
            <a:ext cx="6217920" cy="530352"/>
          </a:xfrm>
          <a:prstGeom prst="rect">
            <a:avLst/>
          </a:prstGeom>
          <a:noFill/>
          <a:ln/>
        </p:spPr>
        <p:txBody>
          <a:bodyPr wrap="square" rtlCol="0" anchor="ctr"/>
          <a:lstStyle/>
          <a:p>
            <a:pPr marL="0" indent="0" algn="ctr">
              <a:buNone/>
            </a:pPr>
            <a:r>
              <a:rPr lang="en-US" sz="1100" b="1" dirty="0">
                <a:solidFill>
                  <a:srgbClr val="D97706"/>
                </a:solidFill>
                <a:latin typeface="Calibri" pitchFamily="34" charset="0"/>
                <a:ea typeface="Calibri" pitchFamily="34" charset="-122"/>
                <a:cs typeface="Calibri" pitchFamily="34" charset="-120"/>
              </a:rPr>
              <a:t>Figure 2 - Words' Evolution overview throughout history</a:t>
            </a:r>
            <a:endParaRPr lang="en-US" sz="1100" dirty="0"/>
          </a:p>
        </p:txBody>
      </p:sp>
      <p:pic>
        <p:nvPicPr>
          <p:cNvPr id="15" name="Picture 14">
            <a:extLst>
              <a:ext uri="{FF2B5EF4-FFF2-40B4-BE49-F238E27FC236}">
                <a16:creationId xmlns:a16="http://schemas.microsoft.com/office/drawing/2014/main" id="{9BDB9BF9-C921-002D-D9C9-3632D6CEE5F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5760" y="935990"/>
            <a:ext cx="5943600" cy="32486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PCA Word-Cluster Visualisation: "awful" 1800s vs 1960s</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Results — Semantic Change</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14</a:t>
            </a:r>
            <a:endParaRPr lang="en-US" sz="800" dirty="0"/>
          </a:p>
        </p:txBody>
      </p:sp>
      <p:sp>
        <p:nvSpPr>
          <p:cNvPr id="10" name="Shape 8"/>
          <p:cNvSpPr/>
          <p:nvPr/>
        </p:nvSpPr>
        <p:spPr>
          <a:xfrm>
            <a:off x="365760" y="3977640"/>
            <a:ext cx="8412480" cy="804672"/>
          </a:xfrm>
          <a:prstGeom prst="rect">
            <a:avLst/>
          </a:prstGeom>
          <a:solidFill>
            <a:srgbClr val="1E3A5F"/>
          </a:solidFill>
          <a:ln/>
        </p:spPr>
      </p:sp>
      <p:sp>
        <p:nvSpPr>
          <p:cNvPr id="11" name="Text 9"/>
          <p:cNvSpPr/>
          <p:nvPr/>
        </p:nvSpPr>
        <p:spPr>
          <a:xfrm>
            <a:off x="502920" y="3995928"/>
            <a:ext cx="8229600" cy="768096"/>
          </a:xfrm>
          <a:prstGeom prst="rect">
            <a:avLst/>
          </a:prstGeom>
          <a:noFill/>
          <a:ln/>
        </p:spPr>
        <p:txBody>
          <a:bodyPr wrap="square" rtlCol="0" anchor="ctr"/>
          <a:lstStyle/>
          <a:p>
            <a:pPr marL="0" indent="0">
              <a:buNone/>
            </a:pPr>
            <a:r>
              <a:rPr lang="en-US" sz="1000" dirty="0">
                <a:solidFill>
                  <a:srgbClr val="CBD5E1"/>
                </a:solidFill>
                <a:latin typeface="Calibri" pitchFamily="34" charset="0"/>
                <a:ea typeface="Calibri" pitchFamily="34" charset="-122"/>
                <a:cs typeface="Calibri" pitchFamily="34" charset="-120"/>
              </a:rPr>
              <a:t>Each dot is a word. Dots that are close together have similar meanings in that period..</a:t>
            </a:r>
            <a:endParaRPr lang="en-US" sz="1000" dirty="0"/>
          </a:p>
        </p:txBody>
      </p:sp>
      <p:pic>
        <p:nvPicPr>
          <p:cNvPr id="13" name="Picture 12">
            <a:extLst>
              <a:ext uri="{FF2B5EF4-FFF2-40B4-BE49-F238E27FC236}">
                <a16:creationId xmlns:a16="http://schemas.microsoft.com/office/drawing/2014/main" id="{DFB8D26F-329C-BBBC-E35F-9859C2E73396}"/>
              </a:ext>
            </a:extLst>
          </p:cNvPr>
          <p:cNvPicPr>
            <a:picLocks noChangeAspect="1"/>
          </p:cNvPicPr>
          <p:nvPr/>
        </p:nvPicPr>
        <p:blipFill>
          <a:blip r:embed="rId3"/>
          <a:stretch>
            <a:fillRect/>
          </a:stretch>
        </p:blipFill>
        <p:spPr>
          <a:xfrm>
            <a:off x="1168401" y="795528"/>
            <a:ext cx="6373486" cy="302773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Gender Bias Analysis: WEAT Setup</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Results — Gender Bias</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15</a:t>
            </a:r>
            <a:endParaRPr lang="en-US" sz="800" dirty="0"/>
          </a:p>
        </p:txBody>
      </p:sp>
      <p:sp>
        <p:nvSpPr>
          <p:cNvPr id="8" name="Shape 6"/>
          <p:cNvSpPr/>
          <p:nvPr/>
        </p:nvSpPr>
        <p:spPr>
          <a:xfrm>
            <a:off x="274320" y="868680"/>
            <a:ext cx="4206240" cy="1783080"/>
          </a:xfrm>
          <a:prstGeom prst="rect">
            <a:avLst/>
          </a:prstGeom>
          <a:solidFill>
            <a:srgbClr val="FFFFFF"/>
          </a:solidFill>
          <a:ln w="25400">
            <a:solidFill>
              <a:srgbClr val="0891B2"/>
            </a:solidFill>
            <a:prstDash val="solid"/>
          </a:ln>
        </p:spPr>
      </p:sp>
      <p:sp>
        <p:nvSpPr>
          <p:cNvPr id="9" name="Shape 7"/>
          <p:cNvSpPr/>
          <p:nvPr/>
        </p:nvSpPr>
        <p:spPr>
          <a:xfrm>
            <a:off x="274320" y="868680"/>
            <a:ext cx="4206240" cy="347472"/>
          </a:xfrm>
          <a:prstGeom prst="rect">
            <a:avLst/>
          </a:prstGeom>
          <a:solidFill>
            <a:srgbClr val="0891B2"/>
          </a:solidFill>
          <a:ln/>
        </p:spPr>
      </p:sp>
      <p:sp>
        <p:nvSpPr>
          <p:cNvPr id="10" name="Text 8"/>
          <p:cNvSpPr/>
          <p:nvPr/>
        </p:nvSpPr>
        <p:spPr>
          <a:xfrm>
            <a:off x="365760" y="868680"/>
            <a:ext cx="4023360" cy="34747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TARGET SET A — Agency Traits</a:t>
            </a:r>
            <a:endParaRPr lang="en-US" sz="1000" dirty="0"/>
          </a:p>
        </p:txBody>
      </p:sp>
      <p:sp>
        <p:nvSpPr>
          <p:cNvPr id="11" name="Text 9"/>
          <p:cNvSpPr/>
          <p:nvPr/>
        </p:nvSpPr>
        <p:spPr>
          <a:xfrm>
            <a:off x="365760" y="1252728"/>
            <a:ext cx="4023360" cy="804672"/>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brave  ·  strong  ·  rational  ·  bold</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independent  ·  intelligent  ·  ambitious  ·  courageous</a:t>
            </a:r>
            <a:endParaRPr lang="en-US" sz="1100" dirty="0"/>
          </a:p>
        </p:txBody>
      </p:sp>
      <p:sp>
        <p:nvSpPr>
          <p:cNvPr id="12" name="Text 10"/>
          <p:cNvSpPr/>
          <p:nvPr/>
        </p:nvSpPr>
        <p:spPr>
          <a:xfrm>
            <a:off x="365760" y="2103120"/>
            <a:ext cx="4023360" cy="475488"/>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Historically associated with masculine roles</a:t>
            </a:r>
            <a:endParaRPr lang="en-US" sz="900" dirty="0"/>
          </a:p>
        </p:txBody>
      </p:sp>
      <p:sp>
        <p:nvSpPr>
          <p:cNvPr id="13" name="Shape 11"/>
          <p:cNvSpPr/>
          <p:nvPr/>
        </p:nvSpPr>
        <p:spPr>
          <a:xfrm>
            <a:off x="4709160" y="868680"/>
            <a:ext cx="4206240" cy="1783080"/>
          </a:xfrm>
          <a:prstGeom prst="rect">
            <a:avLst/>
          </a:prstGeom>
          <a:solidFill>
            <a:srgbClr val="FFFFFF"/>
          </a:solidFill>
          <a:ln w="25400">
            <a:solidFill>
              <a:srgbClr val="64748B"/>
            </a:solidFill>
            <a:prstDash val="solid"/>
          </a:ln>
        </p:spPr>
      </p:sp>
      <p:sp>
        <p:nvSpPr>
          <p:cNvPr id="14" name="Shape 12"/>
          <p:cNvSpPr/>
          <p:nvPr/>
        </p:nvSpPr>
        <p:spPr>
          <a:xfrm>
            <a:off x="4709160" y="868680"/>
            <a:ext cx="4206240" cy="347472"/>
          </a:xfrm>
          <a:prstGeom prst="rect">
            <a:avLst/>
          </a:prstGeom>
          <a:solidFill>
            <a:srgbClr val="64748B"/>
          </a:solidFill>
          <a:ln/>
        </p:spPr>
      </p:sp>
      <p:sp>
        <p:nvSpPr>
          <p:cNvPr id="15" name="Text 13"/>
          <p:cNvSpPr/>
          <p:nvPr/>
        </p:nvSpPr>
        <p:spPr>
          <a:xfrm>
            <a:off x="4800600" y="868680"/>
            <a:ext cx="4023360" cy="34747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TARGET SET B — Communal Traits</a:t>
            </a:r>
            <a:endParaRPr lang="en-US" sz="1000" dirty="0"/>
          </a:p>
        </p:txBody>
      </p:sp>
      <p:sp>
        <p:nvSpPr>
          <p:cNvPr id="16" name="Text 14"/>
          <p:cNvSpPr/>
          <p:nvPr/>
        </p:nvSpPr>
        <p:spPr>
          <a:xfrm>
            <a:off x="4800600" y="1252728"/>
            <a:ext cx="4023360" cy="804672"/>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gentle  ·  beautiful  ·  emotional  ·  frail</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delicate  ·  modest  ·  tender  ·  meek</a:t>
            </a:r>
            <a:endParaRPr lang="en-US" sz="1100" dirty="0"/>
          </a:p>
        </p:txBody>
      </p:sp>
      <p:sp>
        <p:nvSpPr>
          <p:cNvPr id="17" name="Text 15"/>
          <p:cNvSpPr/>
          <p:nvPr/>
        </p:nvSpPr>
        <p:spPr>
          <a:xfrm>
            <a:off x="4800600" y="2103120"/>
            <a:ext cx="4023360" cy="475488"/>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Historically associated with feminine roles</a:t>
            </a:r>
            <a:endParaRPr lang="en-US" sz="900" dirty="0"/>
          </a:p>
        </p:txBody>
      </p:sp>
      <p:sp>
        <p:nvSpPr>
          <p:cNvPr id="18" name="Shape 16"/>
          <p:cNvSpPr/>
          <p:nvPr/>
        </p:nvSpPr>
        <p:spPr>
          <a:xfrm>
            <a:off x="274320" y="2788920"/>
            <a:ext cx="4206240" cy="1783080"/>
          </a:xfrm>
          <a:prstGeom prst="rect">
            <a:avLst/>
          </a:prstGeom>
          <a:solidFill>
            <a:srgbClr val="FFFFFF"/>
          </a:solidFill>
          <a:ln w="25400">
            <a:solidFill>
              <a:srgbClr val="1E3A5F"/>
            </a:solidFill>
            <a:prstDash val="solid"/>
          </a:ln>
        </p:spPr>
      </p:sp>
      <p:sp>
        <p:nvSpPr>
          <p:cNvPr id="19" name="Shape 17"/>
          <p:cNvSpPr/>
          <p:nvPr/>
        </p:nvSpPr>
        <p:spPr>
          <a:xfrm>
            <a:off x="274320" y="2788920"/>
            <a:ext cx="4206240" cy="347472"/>
          </a:xfrm>
          <a:prstGeom prst="rect">
            <a:avLst/>
          </a:prstGeom>
          <a:solidFill>
            <a:srgbClr val="1E3A5F"/>
          </a:solidFill>
          <a:ln/>
        </p:spPr>
      </p:sp>
      <p:sp>
        <p:nvSpPr>
          <p:cNvPr id="20" name="Text 18"/>
          <p:cNvSpPr/>
          <p:nvPr/>
        </p:nvSpPr>
        <p:spPr>
          <a:xfrm>
            <a:off x="365760" y="2788920"/>
            <a:ext cx="4023360" cy="34747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ATTRIBUTE A₁ — Male Names</a:t>
            </a:r>
            <a:endParaRPr lang="en-US" sz="1000" dirty="0"/>
          </a:p>
        </p:txBody>
      </p:sp>
      <p:sp>
        <p:nvSpPr>
          <p:cNvPr id="21" name="Text 19"/>
          <p:cNvSpPr/>
          <p:nvPr/>
        </p:nvSpPr>
        <p:spPr>
          <a:xfrm>
            <a:off x="365760" y="3172968"/>
            <a:ext cx="4023360" cy="804672"/>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henry  ·  william  ·  edward  ·  charles</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george  ·  thomas  ·  arthur  ·  james</a:t>
            </a:r>
            <a:endParaRPr lang="en-US" sz="1100" dirty="0"/>
          </a:p>
        </p:txBody>
      </p:sp>
      <p:sp>
        <p:nvSpPr>
          <p:cNvPr id="22" name="Text 20"/>
          <p:cNvSpPr/>
          <p:nvPr/>
        </p:nvSpPr>
        <p:spPr>
          <a:xfrm>
            <a:off x="365760" y="4023360"/>
            <a:ext cx="4023360" cy="475488"/>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Most frequent male given names in 19th-century English literature</a:t>
            </a:r>
            <a:endParaRPr lang="en-US" sz="900" dirty="0"/>
          </a:p>
        </p:txBody>
      </p:sp>
      <p:sp>
        <p:nvSpPr>
          <p:cNvPr id="23" name="Shape 21"/>
          <p:cNvSpPr/>
          <p:nvPr/>
        </p:nvSpPr>
        <p:spPr>
          <a:xfrm>
            <a:off x="4709160" y="2788920"/>
            <a:ext cx="4206240" cy="1783080"/>
          </a:xfrm>
          <a:prstGeom prst="rect">
            <a:avLst/>
          </a:prstGeom>
          <a:solidFill>
            <a:srgbClr val="FFFFFF"/>
          </a:solidFill>
          <a:ln w="25400">
            <a:solidFill>
              <a:srgbClr val="6D2E46"/>
            </a:solidFill>
            <a:prstDash val="solid"/>
          </a:ln>
        </p:spPr>
      </p:sp>
      <p:sp>
        <p:nvSpPr>
          <p:cNvPr id="24" name="Shape 22"/>
          <p:cNvSpPr/>
          <p:nvPr/>
        </p:nvSpPr>
        <p:spPr>
          <a:xfrm>
            <a:off x="4709160" y="2788920"/>
            <a:ext cx="4206240" cy="347472"/>
          </a:xfrm>
          <a:prstGeom prst="rect">
            <a:avLst/>
          </a:prstGeom>
          <a:solidFill>
            <a:srgbClr val="6D2E46"/>
          </a:solidFill>
          <a:ln/>
        </p:spPr>
      </p:sp>
      <p:sp>
        <p:nvSpPr>
          <p:cNvPr id="25" name="Text 23"/>
          <p:cNvSpPr/>
          <p:nvPr/>
        </p:nvSpPr>
        <p:spPr>
          <a:xfrm>
            <a:off x="4800600" y="2788920"/>
            <a:ext cx="4023360" cy="347472"/>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ATTRIBUTE A₂ — Female Names</a:t>
            </a:r>
            <a:endParaRPr lang="en-US" sz="1000" dirty="0"/>
          </a:p>
        </p:txBody>
      </p:sp>
      <p:sp>
        <p:nvSpPr>
          <p:cNvPr id="26" name="Text 24"/>
          <p:cNvSpPr/>
          <p:nvPr/>
        </p:nvSpPr>
        <p:spPr>
          <a:xfrm>
            <a:off x="4800600" y="3172968"/>
            <a:ext cx="4023360" cy="804672"/>
          </a:xfrm>
          <a:prstGeom prst="rect">
            <a:avLst/>
          </a:prstGeom>
          <a:noFill/>
          <a:ln/>
        </p:spPr>
        <p:txBody>
          <a:bodyPr wrap="square"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mary  ·  elizabeth  ·  jane  ·  catherine</a:t>
            </a: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emma  ·  agnes  ·  clara  ·  harriet</a:t>
            </a:r>
            <a:endParaRPr lang="en-US" sz="1100" dirty="0"/>
          </a:p>
        </p:txBody>
      </p:sp>
      <p:sp>
        <p:nvSpPr>
          <p:cNvPr id="27" name="Text 25"/>
          <p:cNvSpPr/>
          <p:nvPr/>
        </p:nvSpPr>
        <p:spPr>
          <a:xfrm>
            <a:off x="4800600" y="4023360"/>
            <a:ext cx="4023360" cy="475488"/>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Most frequent female given names in 19th-century English literature</a:t>
            </a:r>
            <a:endParaRPr lang="en-US" sz="900" dirty="0"/>
          </a:p>
        </p:txBody>
      </p:sp>
      <p:sp>
        <p:nvSpPr>
          <p:cNvPr id="28" name="Shape 26"/>
          <p:cNvSpPr/>
          <p:nvPr/>
        </p:nvSpPr>
        <p:spPr>
          <a:xfrm>
            <a:off x="274320" y="4663440"/>
            <a:ext cx="8595360" cy="329184"/>
          </a:xfrm>
          <a:prstGeom prst="rect">
            <a:avLst/>
          </a:prstGeom>
          <a:solidFill>
            <a:srgbClr val="0891B2"/>
          </a:solidFill>
          <a:ln/>
        </p:spPr>
      </p:sp>
      <p:sp>
        <p:nvSpPr>
          <p:cNvPr id="29" name="Text 27"/>
          <p:cNvSpPr/>
          <p:nvPr/>
        </p:nvSpPr>
        <p:spPr>
          <a:xfrm>
            <a:off x="411480" y="4681728"/>
            <a:ext cx="8321040" cy="292608"/>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Question:  Is d(Agency, A₁, A₂) &gt; 0 ?    i.e.  Are "brave, strong, rational" closer to male names than to female names in Victorian literature?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SWEAT Results: Gender Bias Across 9 Literary Periods</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Results — Gender Bias</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16</a:t>
            </a:r>
            <a:endParaRPr lang="en-US" sz="800" dirty="0"/>
          </a:p>
        </p:txBody>
      </p:sp>
      <p:sp>
        <p:nvSpPr>
          <p:cNvPr id="10" name="Shape 8"/>
          <p:cNvSpPr/>
          <p:nvPr/>
        </p:nvSpPr>
        <p:spPr>
          <a:xfrm>
            <a:off x="6903720" y="841248"/>
            <a:ext cx="1874520" cy="3566160"/>
          </a:xfrm>
          <a:prstGeom prst="rect">
            <a:avLst/>
          </a:prstGeom>
          <a:solidFill>
            <a:srgbClr val="1E3A5F"/>
          </a:solidFill>
          <a:ln/>
        </p:spPr>
      </p:sp>
      <p:sp>
        <p:nvSpPr>
          <p:cNvPr id="11" name="Text 9"/>
          <p:cNvSpPr/>
          <p:nvPr/>
        </p:nvSpPr>
        <p:spPr>
          <a:xfrm>
            <a:off x="6995160" y="886968"/>
            <a:ext cx="1691640" cy="274320"/>
          </a:xfrm>
          <a:prstGeom prst="rect">
            <a:avLst/>
          </a:prstGeom>
          <a:noFill/>
          <a:ln/>
        </p:spPr>
        <p:txBody>
          <a:bodyPr wrap="square" rtlCol="0" anchor="ctr"/>
          <a:lstStyle/>
          <a:p>
            <a:pPr marL="0" indent="0">
              <a:buNone/>
            </a:pPr>
            <a:endParaRPr lang="en-US" sz="1100" dirty="0"/>
          </a:p>
        </p:txBody>
      </p:sp>
      <p:sp>
        <p:nvSpPr>
          <p:cNvPr id="12" name="Text 10"/>
          <p:cNvSpPr/>
          <p:nvPr/>
        </p:nvSpPr>
        <p:spPr>
          <a:xfrm>
            <a:off x="6995160" y="1234440"/>
            <a:ext cx="1691640" cy="3063240"/>
          </a:xfrm>
          <a:prstGeom prst="rect">
            <a:avLst/>
          </a:prstGeom>
          <a:noFill/>
          <a:ln/>
        </p:spPr>
        <p:txBody>
          <a:bodyPr wrap="square" rtlCol="0" anchor="t"/>
          <a:lstStyle/>
          <a:p>
            <a:pPr marL="0" indent="0">
              <a:buNone/>
            </a:pPr>
            <a:endParaRPr lang="en-US" sz="950" dirty="0"/>
          </a:p>
          <a:p>
            <a:pPr marL="0" indent="0">
              <a:buNone/>
            </a:pPr>
            <a:r>
              <a:rPr lang="en-US" sz="950" dirty="0">
                <a:solidFill>
                  <a:srgbClr val="CBD5E1"/>
                </a:solidFill>
                <a:latin typeface="Calibri" pitchFamily="34" charset="0"/>
                <a:ea typeface="Calibri" pitchFamily="34" charset="-122"/>
                <a:cs typeface="Calibri" pitchFamily="34" charset="-120"/>
              </a:rPr>
              <a:t>We see the surge in not only Agency traits association with males but also in communal traits, in </a:t>
            </a:r>
            <a:r>
              <a:rPr lang="en-US" sz="950" dirty="0" err="1">
                <a:solidFill>
                  <a:srgbClr val="CBD5E1"/>
                </a:solidFill>
                <a:latin typeface="Calibri" pitchFamily="34" charset="0"/>
                <a:ea typeface="Calibri" pitchFamily="34" charset="-122"/>
                <a:cs typeface="Calibri" pitchFamily="34" charset="-120"/>
              </a:rPr>
              <a:t>1880s</a:t>
            </a:r>
            <a:r>
              <a:rPr lang="en-US" sz="950" dirty="0">
                <a:solidFill>
                  <a:srgbClr val="CBD5E1"/>
                </a:solidFill>
                <a:latin typeface="Calibri" pitchFamily="34" charset="0"/>
                <a:ea typeface="Calibri" pitchFamily="34" charset="-122"/>
                <a:cs typeface="Calibri" pitchFamily="34" charset="-120"/>
              </a:rPr>
              <a:t> and then fall back.</a:t>
            </a:r>
          </a:p>
          <a:p>
            <a:pPr marL="0" indent="0">
              <a:buNone/>
            </a:pPr>
            <a:endParaRPr lang="en-US" sz="950" dirty="0">
              <a:solidFill>
                <a:srgbClr val="CBD5E1"/>
              </a:solidFill>
              <a:latin typeface="Calibri" pitchFamily="34" charset="0"/>
              <a:ea typeface="Calibri" pitchFamily="34" charset="-122"/>
              <a:cs typeface="Calibri" pitchFamily="34" charset="-120"/>
            </a:endParaRPr>
          </a:p>
          <a:p>
            <a:pPr marL="0" indent="0">
              <a:buNone/>
            </a:pPr>
            <a:r>
              <a:rPr lang="en-US" sz="950" dirty="0">
                <a:solidFill>
                  <a:srgbClr val="CBD5E1"/>
                </a:solidFill>
                <a:latin typeface="Calibri" pitchFamily="34" charset="0"/>
                <a:ea typeface="Calibri" pitchFamily="34" charset="-122"/>
                <a:cs typeface="Calibri" pitchFamily="34" charset="-120"/>
              </a:rPr>
              <a:t>In mid </a:t>
            </a:r>
            <a:r>
              <a:rPr lang="en-US" sz="950" dirty="0" err="1">
                <a:solidFill>
                  <a:srgbClr val="CBD5E1"/>
                </a:solidFill>
                <a:latin typeface="Calibri" pitchFamily="34" charset="0"/>
                <a:ea typeface="Calibri" pitchFamily="34" charset="-122"/>
                <a:cs typeface="Calibri" pitchFamily="34" charset="-120"/>
              </a:rPr>
              <a:t>90s</a:t>
            </a:r>
            <a:r>
              <a:rPr lang="en-US" sz="950" dirty="0">
                <a:solidFill>
                  <a:srgbClr val="CBD5E1"/>
                </a:solidFill>
                <a:latin typeface="Calibri" pitchFamily="34" charset="0"/>
                <a:ea typeface="Calibri" pitchFamily="34" charset="-122"/>
                <a:cs typeface="Calibri" pitchFamily="34" charset="-120"/>
              </a:rPr>
              <a:t> Male association shows stronger association with both , agency traits and communal traits</a:t>
            </a:r>
            <a:endParaRPr lang="en-US" sz="950" dirty="0"/>
          </a:p>
        </p:txBody>
      </p:sp>
      <p:sp>
        <p:nvSpPr>
          <p:cNvPr id="13" name="Shape 11"/>
          <p:cNvSpPr/>
          <p:nvPr/>
        </p:nvSpPr>
        <p:spPr>
          <a:xfrm>
            <a:off x="365760" y="4498848"/>
            <a:ext cx="8412480" cy="457200"/>
          </a:xfrm>
          <a:prstGeom prst="rect">
            <a:avLst/>
          </a:prstGeom>
          <a:solidFill>
            <a:srgbClr val="FFFBEB"/>
          </a:solidFill>
          <a:ln w="19050">
            <a:solidFill>
              <a:srgbClr val="D97706"/>
            </a:solidFill>
            <a:prstDash val="dash"/>
          </a:ln>
        </p:spPr>
      </p:sp>
      <p:sp>
        <p:nvSpPr>
          <p:cNvPr id="14" name="Text 12"/>
          <p:cNvSpPr/>
          <p:nvPr/>
        </p:nvSpPr>
        <p:spPr>
          <a:xfrm>
            <a:off x="365760" y="4498848"/>
            <a:ext cx="8412480" cy="457200"/>
          </a:xfrm>
          <a:prstGeom prst="rect">
            <a:avLst/>
          </a:prstGeom>
          <a:noFill/>
          <a:ln/>
        </p:spPr>
        <p:txBody>
          <a:bodyPr wrap="square" rtlCol="0" anchor="ctr"/>
          <a:lstStyle/>
          <a:p>
            <a:pPr marL="0" indent="0" algn="ctr">
              <a:buNone/>
            </a:pPr>
            <a:r>
              <a:rPr lang="en-US" sz="1100" b="1" dirty="0">
                <a:solidFill>
                  <a:srgbClr val="D97706"/>
                </a:solidFill>
                <a:latin typeface="Calibri" pitchFamily="34" charset="0"/>
                <a:ea typeface="Calibri" pitchFamily="34" charset="-122"/>
                <a:cs typeface="Calibri" pitchFamily="34" charset="-120"/>
              </a:rPr>
              <a:t>1960 associated both Agency traits and communal traits to male</a:t>
            </a:r>
            <a:endParaRPr lang="en-US" sz="1100" dirty="0"/>
          </a:p>
        </p:txBody>
      </p:sp>
      <p:pic>
        <p:nvPicPr>
          <p:cNvPr id="16" name="Picture 15">
            <a:extLst>
              <a:ext uri="{FF2B5EF4-FFF2-40B4-BE49-F238E27FC236}">
                <a16:creationId xmlns:a16="http://schemas.microsoft.com/office/drawing/2014/main" id="{9B402D85-5E98-9CAD-9201-9D96D63FAC4B}"/>
              </a:ext>
            </a:extLst>
          </p:cNvPr>
          <p:cNvPicPr>
            <a:picLocks noChangeAspect="1"/>
          </p:cNvPicPr>
          <p:nvPr/>
        </p:nvPicPr>
        <p:blipFill>
          <a:blip r:embed="rId3"/>
          <a:stretch>
            <a:fillRect/>
          </a:stretch>
        </p:blipFill>
        <p:spPr>
          <a:xfrm>
            <a:off x="274320" y="841248"/>
            <a:ext cx="6354682" cy="34564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SWEAT Results Table — Effect Sizes &amp; Significance</a:t>
            </a:r>
            <a:endParaRPr lang="en-US" sz="2200" dirty="0"/>
          </a:p>
        </p:txBody>
      </p:sp>
      <p:graphicFrame>
        <p:nvGraphicFramePr>
          <p:cNvPr id="109" name="Table 108">
            <a:extLst>
              <a:ext uri="{FF2B5EF4-FFF2-40B4-BE49-F238E27FC236}">
                <a16:creationId xmlns:a16="http://schemas.microsoft.com/office/drawing/2014/main" id="{4D3916BD-1971-3E1F-BB0B-5A565187421A}"/>
              </a:ext>
            </a:extLst>
          </p:cNvPr>
          <p:cNvGraphicFramePr>
            <a:graphicFrameLocks noGrp="1"/>
          </p:cNvGraphicFramePr>
          <p:nvPr>
            <p:extLst>
              <p:ext uri="{D42A27DB-BD31-4B8C-83A1-F6EECF244321}">
                <p14:modId xmlns:p14="http://schemas.microsoft.com/office/powerpoint/2010/main" val="3993628855"/>
              </p:ext>
            </p:extLst>
          </p:nvPr>
        </p:nvGraphicFramePr>
        <p:xfrm>
          <a:off x="365760" y="1014889"/>
          <a:ext cx="8412480" cy="3753057"/>
        </p:xfrm>
        <a:graphic>
          <a:graphicData uri="http://schemas.openxmlformats.org/drawingml/2006/table">
            <a:tbl>
              <a:tblPr firstRow="1" firstCol="1" bandRow="1"/>
              <a:tblGrid>
                <a:gridCol w="731886">
                  <a:extLst>
                    <a:ext uri="{9D8B030D-6E8A-4147-A177-3AD203B41FA5}">
                      <a16:colId xmlns:a16="http://schemas.microsoft.com/office/drawing/2014/main" val="1524167079"/>
                    </a:ext>
                  </a:extLst>
                </a:gridCol>
                <a:gridCol w="900135">
                  <a:extLst>
                    <a:ext uri="{9D8B030D-6E8A-4147-A177-3AD203B41FA5}">
                      <a16:colId xmlns:a16="http://schemas.microsoft.com/office/drawing/2014/main" val="730373772"/>
                    </a:ext>
                  </a:extLst>
                </a:gridCol>
                <a:gridCol w="720109">
                  <a:extLst>
                    <a:ext uri="{9D8B030D-6E8A-4147-A177-3AD203B41FA5}">
                      <a16:colId xmlns:a16="http://schemas.microsoft.com/office/drawing/2014/main" val="3667407224"/>
                    </a:ext>
                  </a:extLst>
                </a:gridCol>
                <a:gridCol w="4916253">
                  <a:extLst>
                    <a:ext uri="{9D8B030D-6E8A-4147-A177-3AD203B41FA5}">
                      <a16:colId xmlns:a16="http://schemas.microsoft.com/office/drawing/2014/main" val="161727888"/>
                    </a:ext>
                  </a:extLst>
                </a:gridCol>
                <a:gridCol w="1144097">
                  <a:extLst>
                    <a:ext uri="{9D8B030D-6E8A-4147-A177-3AD203B41FA5}">
                      <a16:colId xmlns:a16="http://schemas.microsoft.com/office/drawing/2014/main" val="1092933092"/>
                    </a:ext>
                  </a:extLst>
                </a:gridCol>
              </a:tblGrid>
              <a:tr h="292446">
                <a:tc>
                  <a:txBody>
                    <a:bodyPr/>
                    <a:lstStyle/>
                    <a:p>
                      <a:pPr marL="0" marR="0" algn="l">
                        <a:spcBef>
                          <a:spcPts val="1200"/>
                        </a:spcBef>
                        <a:spcAft>
                          <a:spcPts val="1200"/>
                        </a:spcAft>
                        <a:buNone/>
                      </a:pPr>
                      <a:r>
                        <a:rPr lang="en-US" sz="110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Period</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546A"/>
                    </a:solidFill>
                  </a:tcPr>
                </a:tc>
                <a:tc>
                  <a:txBody>
                    <a:bodyPr/>
                    <a:lstStyle/>
                    <a:p>
                      <a:pPr marL="0" marR="0" algn="l">
                        <a:spcBef>
                          <a:spcPts val="1200"/>
                        </a:spcBef>
                        <a:spcAft>
                          <a:spcPts val="1200"/>
                        </a:spcAft>
                        <a:buNone/>
                      </a:pPr>
                      <a:r>
                        <a:rPr lang="en-US" sz="110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Effect size d</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546A"/>
                    </a:solidFill>
                  </a:tcPr>
                </a:tc>
                <a:tc>
                  <a:txBody>
                    <a:bodyPr/>
                    <a:lstStyle/>
                    <a:p>
                      <a:pPr marL="0" marR="0" algn="l">
                        <a:spcBef>
                          <a:spcPts val="1200"/>
                        </a:spcBef>
                        <a:spcAft>
                          <a:spcPts val="1200"/>
                        </a:spcAft>
                        <a:buNone/>
                      </a:pPr>
                      <a:r>
                        <a:rPr lang="en-US" sz="110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p-value</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546A"/>
                    </a:solidFill>
                  </a:tcPr>
                </a:tc>
                <a:tc>
                  <a:txBody>
                    <a:bodyPr/>
                    <a:lstStyle/>
                    <a:p>
                      <a:pPr marL="0" marR="0" algn="l">
                        <a:spcBef>
                          <a:spcPts val="1200"/>
                        </a:spcBef>
                        <a:spcAft>
                          <a:spcPts val="1200"/>
                        </a:spcAft>
                        <a:buNone/>
                      </a:pPr>
                      <a:r>
                        <a:rPr lang="en-US" sz="110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Interpretation</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546A"/>
                    </a:solidFill>
                  </a:tcPr>
                </a:tc>
                <a:tc>
                  <a:txBody>
                    <a:bodyPr/>
                    <a:lstStyle/>
                    <a:p>
                      <a:pPr marL="0" marR="0" algn="l">
                        <a:spcBef>
                          <a:spcPts val="1200"/>
                        </a:spcBef>
                        <a:spcAft>
                          <a:spcPts val="1200"/>
                        </a:spcAft>
                        <a:buNone/>
                      </a:pPr>
                      <a:r>
                        <a:rPr lang="en-US" sz="1100" b="1">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Significant?</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44546A"/>
                    </a:solidFill>
                  </a:tcPr>
                </a:tc>
                <a:extLst>
                  <a:ext uri="{0D108BD9-81ED-4DB2-BD59-A6C34878D82A}">
                    <a16:rowId xmlns:a16="http://schemas.microsoft.com/office/drawing/2014/main" val="1463225278"/>
                  </a:ext>
                </a:extLst>
              </a:tr>
              <a:tr h="292446">
                <a:tc>
                  <a:txBody>
                    <a:bodyPr/>
                    <a:lstStyle/>
                    <a:p>
                      <a:pPr marL="0" marR="0" algn="l">
                        <a:spcBef>
                          <a:spcPts val="1200"/>
                        </a:spcBef>
                        <a:spcAft>
                          <a:spcPts val="1200"/>
                        </a:spcAft>
                        <a:buNone/>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1800s</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 detectable association between agency traits and gender names</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651461686"/>
                  </a:ext>
                </a:extLst>
              </a:tr>
              <a:tr h="584892">
                <a:tc>
                  <a:txBody>
                    <a:bodyPr/>
                    <a:lstStyle/>
                    <a:p>
                      <a:pPr marL="0" marR="0" algn="l">
                        <a:spcBef>
                          <a:spcPts val="1200"/>
                        </a:spcBef>
                        <a:spcAft>
                          <a:spcPts val="1200"/>
                        </a:spcAft>
                        <a:buNone/>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1820s</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-0.22</a:t>
                      </a:r>
                      <a:endParaRPr lang="en-US" sz="1200" dirty="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0.807</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Slight association of agency traits with female names, but extremely weak and unreliable</a:t>
                      </a:r>
                      <a:endParaRPr lang="en-US" sz="1200" dirty="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797074778"/>
                  </a:ext>
                </a:extLst>
              </a:tr>
              <a:tr h="292446">
                <a:tc>
                  <a:txBody>
                    <a:bodyPr/>
                    <a:lstStyle/>
                    <a:p>
                      <a:pPr marL="0" marR="0" algn="l">
                        <a:spcBef>
                          <a:spcPts val="1200"/>
                        </a:spcBef>
                        <a:spcAft>
                          <a:spcPts val="1200"/>
                        </a:spcAft>
                        <a:buNone/>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1840s</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-0.58</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0.942</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Moderate female-oriented association, but statistically unreliable</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452427264"/>
                  </a:ext>
                </a:extLst>
              </a:tr>
              <a:tr h="584892">
                <a:tc>
                  <a:txBody>
                    <a:bodyPr/>
                    <a:lstStyle/>
                    <a:p>
                      <a:pPr marL="0" marR="0" algn="l">
                        <a:spcBef>
                          <a:spcPts val="1200"/>
                        </a:spcBef>
                        <a:spcAft>
                          <a:spcPts val="1200"/>
                        </a:spcAft>
                        <a:buNone/>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1860s</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4.179</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0.23</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Strong male oriented association observed, but not statistically significant due to limited vocabulary coverage</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500648181"/>
                  </a:ext>
                </a:extLst>
              </a:tr>
              <a:tr h="292446">
                <a:tc>
                  <a:txBody>
                    <a:bodyPr/>
                    <a:lstStyle/>
                    <a:p>
                      <a:pPr marL="0" marR="0" algn="l">
                        <a:spcBef>
                          <a:spcPts val="1200"/>
                        </a:spcBef>
                        <a:spcAft>
                          <a:spcPts val="1200"/>
                        </a:spcAft>
                        <a:buNone/>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1880s</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-0.745</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0.987</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Moderate female-oriented association, but highly non-significant</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1978780828"/>
                  </a:ext>
                </a:extLst>
              </a:tr>
              <a:tr h="536151">
                <a:tc>
                  <a:txBody>
                    <a:bodyPr/>
                    <a:lstStyle/>
                    <a:p>
                      <a:pPr marL="0" marR="0" algn="l">
                        <a:spcBef>
                          <a:spcPts val="1200"/>
                        </a:spcBef>
                        <a:spcAft>
                          <a:spcPts val="1200"/>
                        </a:spcAft>
                        <a:buNone/>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1900s</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-0.827</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Agency traits appear somewhat closer to female names, but result is unreliable</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644842188"/>
                  </a:ext>
                </a:extLst>
              </a:tr>
              <a:tr h="292446">
                <a:tc>
                  <a:txBody>
                    <a:bodyPr/>
                    <a:lstStyle/>
                    <a:p>
                      <a:pPr marL="0" marR="0" algn="l">
                        <a:spcBef>
                          <a:spcPts val="1200"/>
                        </a:spcBef>
                        <a:spcAft>
                          <a:spcPts val="1200"/>
                        </a:spcAft>
                        <a:buNone/>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1920s</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 measurable association detected because no target words were found</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363856174"/>
                  </a:ext>
                </a:extLst>
              </a:tr>
              <a:tr h="292446">
                <a:tc>
                  <a:txBody>
                    <a:bodyPr/>
                    <a:lstStyle/>
                    <a:p>
                      <a:pPr marL="0" marR="0" algn="l">
                        <a:spcBef>
                          <a:spcPts val="1200"/>
                        </a:spcBef>
                        <a:spcAft>
                          <a:spcPts val="1200"/>
                        </a:spcAft>
                        <a:buNone/>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1940s</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 meaningful association detected due to insufficient target vocabulary</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No</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207714789"/>
                  </a:ext>
                </a:extLst>
              </a:tr>
              <a:tr h="292446">
                <a:tc>
                  <a:txBody>
                    <a:bodyPr/>
                    <a:lstStyle/>
                    <a:p>
                      <a:pPr marL="0" marR="0" algn="l">
                        <a:spcBef>
                          <a:spcPts val="1200"/>
                        </a:spcBef>
                        <a:spcAft>
                          <a:spcPts val="1200"/>
                        </a:spcAft>
                        <a:buNone/>
                      </a:pPr>
                      <a:r>
                        <a:rPr lang="en-US" sz="11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1960s</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3.352</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0.038</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Strong male-oriented association between agency traits and male names</a:t>
                      </a:r>
                      <a:endParaRPr lang="en-US" sz="120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tc>
                  <a:txBody>
                    <a:bodyPr/>
                    <a:lstStyle/>
                    <a:p>
                      <a:pPr marL="0" marR="0" algn="l">
                        <a:spcBef>
                          <a:spcPts val="1200"/>
                        </a:spcBef>
                        <a:spcAft>
                          <a:spcPts val="1200"/>
                        </a:spcAft>
                        <a:buNone/>
                      </a:pPr>
                      <a:r>
                        <a:rPr lang="en-US" sz="11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Yes</a:t>
                      </a:r>
                      <a:endParaRPr lang="en-US" sz="1200" dirty="0">
                        <a:solidFill>
                          <a:srgbClr val="323E4F"/>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lnL w="12700" cap="flat" cmpd="sng" algn="ctr">
                      <a:solidFill>
                        <a:srgbClr val="BFBFBF"/>
                      </a:solidFill>
                      <a:prstDash val="solid"/>
                      <a:round/>
                      <a:headEnd type="none" w="med" len="med"/>
                      <a:tailEnd type="none" w="med" len="med"/>
                    </a:lnL>
                    <a:lnR w="12700" cap="flat" cmpd="sng" algn="ctr">
                      <a:solidFill>
                        <a:srgbClr val="BFBFBF"/>
                      </a:solidFill>
                      <a:prstDash val="solid"/>
                      <a:round/>
                      <a:headEnd type="none" w="med" len="med"/>
                      <a:tailEnd type="none" w="med" len="med"/>
                    </a:lnR>
                    <a:lnT w="12700" cap="flat" cmpd="sng" algn="ctr">
                      <a:solidFill>
                        <a:srgbClr val="BFBFBF"/>
                      </a:solidFill>
                      <a:prstDash val="solid"/>
                      <a:round/>
                      <a:headEnd type="none" w="med" len="med"/>
                      <a:tailEnd type="none" w="med" len="med"/>
                    </a:lnT>
                    <a:lnB w="12700" cap="flat" cmpd="sng" algn="ctr">
                      <a:solidFill>
                        <a:srgbClr val="BFBFBF"/>
                      </a:solidFill>
                      <a:prstDash val="solid"/>
                      <a:round/>
                      <a:headEnd type="none" w="med" len="med"/>
                      <a:tailEnd type="none" w="med" len="med"/>
                    </a:lnB>
                    <a:solidFill>
                      <a:srgbClr val="F2F2F2"/>
                    </a:solidFill>
                  </a:tcPr>
                </a:tc>
                <a:extLst>
                  <a:ext uri="{0D108BD9-81ED-4DB2-BD59-A6C34878D82A}">
                    <a16:rowId xmlns:a16="http://schemas.microsoft.com/office/drawing/2014/main" val="6976245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Interpretation: What Do the Bias Results Tell Us?</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Discussion</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18</a:t>
            </a:r>
            <a:endParaRPr lang="en-US" sz="800" dirty="0"/>
          </a:p>
        </p:txBody>
      </p:sp>
      <p:sp>
        <p:nvSpPr>
          <p:cNvPr id="8" name="Shape 6"/>
          <p:cNvSpPr/>
          <p:nvPr/>
        </p:nvSpPr>
        <p:spPr>
          <a:xfrm>
            <a:off x="365760" y="841248"/>
            <a:ext cx="4160520" cy="1463040"/>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9" name="Shape 7"/>
          <p:cNvSpPr/>
          <p:nvPr/>
        </p:nvSpPr>
        <p:spPr>
          <a:xfrm>
            <a:off x="365760" y="841248"/>
            <a:ext cx="54864" cy="1463040"/>
          </a:xfrm>
          <a:prstGeom prst="rect">
            <a:avLst/>
          </a:prstGeom>
          <a:solidFill>
            <a:srgbClr val="0891B2"/>
          </a:solidFill>
          <a:ln/>
        </p:spPr>
      </p:sp>
      <p:sp>
        <p:nvSpPr>
          <p:cNvPr id="10" name="Text 8"/>
          <p:cNvSpPr/>
          <p:nvPr/>
        </p:nvSpPr>
        <p:spPr>
          <a:xfrm>
            <a:off x="493776" y="914400"/>
            <a:ext cx="3977640" cy="201168"/>
          </a:xfrm>
          <a:prstGeom prst="rect">
            <a:avLst/>
          </a:prstGeom>
          <a:noFill/>
          <a:ln/>
        </p:spPr>
        <p:txBody>
          <a:bodyPr wrap="square" rtlCol="0" anchor="ctr"/>
          <a:lstStyle/>
          <a:p>
            <a:pPr marL="0" indent="0">
              <a:buNone/>
            </a:pPr>
            <a:r>
              <a:rPr lang="en-US" sz="900" b="1" kern="0" spc="100" dirty="0">
                <a:solidFill>
                  <a:srgbClr val="0891B2"/>
                </a:solidFill>
                <a:latin typeface="Calibri" pitchFamily="34" charset="0"/>
                <a:ea typeface="Calibri" pitchFamily="34" charset="-122"/>
                <a:cs typeface="Calibri" pitchFamily="34" charset="-120"/>
              </a:rPr>
              <a:t>LITERARY CONTEXT (19TH CENTURY)</a:t>
            </a:r>
            <a:endParaRPr lang="en-US" sz="900" dirty="0"/>
          </a:p>
        </p:txBody>
      </p:sp>
      <p:sp>
        <p:nvSpPr>
          <p:cNvPr id="11" name="Text 9"/>
          <p:cNvSpPr/>
          <p:nvPr/>
        </p:nvSpPr>
        <p:spPr>
          <a:xfrm>
            <a:off x="493776" y="1097280"/>
            <a:ext cx="3977640" cy="1115568"/>
          </a:xfrm>
          <a:prstGeom prst="rect">
            <a:avLst/>
          </a:prstGeom>
          <a:noFill/>
          <a:ln/>
        </p:spPr>
        <p:txBody>
          <a:bodyPr wrap="square" rtlCol="0" anchor="t"/>
          <a:lstStyle/>
          <a:p>
            <a:pPr marL="0" indent="0">
              <a:buNone/>
            </a:pPr>
            <a:r>
              <a:rPr lang="en-US" sz="1200" dirty="0">
                <a:solidFill>
                  <a:srgbClr val="334155"/>
                </a:solidFill>
                <a:latin typeface="Calibri" pitchFamily="34" charset="0"/>
                <a:ea typeface="Calibri" pitchFamily="34" charset="-122"/>
                <a:cs typeface="Calibri" pitchFamily="34" charset="-120"/>
              </a:rPr>
              <a:t>Victorian literature was produced within a society with strict gender norms. Male characters occupied adventuring, professional, and leadership roles; female characters domesticity and emotion. This is reflected in the language authors chose.</a:t>
            </a:r>
            <a:endParaRPr lang="en-US" sz="1200" dirty="0"/>
          </a:p>
        </p:txBody>
      </p:sp>
      <p:sp>
        <p:nvSpPr>
          <p:cNvPr id="12" name="Shape 10"/>
          <p:cNvSpPr/>
          <p:nvPr/>
        </p:nvSpPr>
        <p:spPr>
          <a:xfrm>
            <a:off x="4709160" y="841248"/>
            <a:ext cx="4069080" cy="1463040"/>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3" name="Shape 11"/>
          <p:cNvSpPr/>
          <p:nvPr/>
        </p:nvSpPr>
        <p:spPr>
          <a:xfrm>
            <a:off x="4709160" y="841248"/>
            <a:ext cx="54864" cy="1463040"/>
          </a:xfrm>
          <a:prstGeom prst="rect">
            <a:avLst/>
          </a:prstGeom>
          <a:solidFill>
            <a:srgbClr val="0891B2"/>
          </a:solidFill>
          <a:ln/>
        </p:spPr>
      </p:sp>
      <p:sp>
        <p:nvSpPr>
          <p:cNvPr id="14" name="Text 12"/>
          <p:cNvSpPr/>
          <p:nvPr/>
        </p:nvSpPr>
        <p:spPr>
          <a:xfrm>
            <a:off x="4837176" y="914400"/>
            <a:ext cx="3886200" cy="201168"/>
          </a:xfrm>
          <a:prstGeom prst="rect">
            <a:avLst/>
          </a:prstGeom>
          <a:noFill/>
          <a:ln/>
        </p:spPr>
        <p:txBody>
          <a:bodyPr wrap="square" rtlCol="0" anchor="ctr"/>
          <a:lstStyle/>
          <a:p>
            <a:pPr marL="0" indent="0">
              <a:buNone/>
            </a:pPr>
            <a:r>
              <a:rPr lang="en-US" sz="900" b="1" kern="0" spc="100" dirty="0">
                <a:solidFill>
                  <a:srgbClr val="0891B2"/>
                </a:solidFill>
                <a:latin typeface="Calibri" pitchFamily="34" charset="0"/>
                <a:ea typeface="Calibri" pitchFamily="34" charset="-122"/>
                <a:cs typeface="Calibri" pitchFamily="34" charset="-120"/>
              </a:rPr>
              <a:t>WHAT OUR RESULTS SHOW</a:t>
            </a:r>
            <a:endParaRPr lang="en-US" sz="900" dirty="0"/>
          </a:p>
        </p:txBody>
      </p:sp>
      <p:sp>
        <p:nvSpPr>
          <p:cNvPr id="15" name="Text 13"/>
          <p:cNvSpPr/>
          <p:nvPr/>
        </p:nvSpPr>
        <p:spPr>
          <a:xfrm>
            <a:off x="4837176" y="1097280"/>
            <a:ext cx="3886200" cy="1115568"/>
          </a:xfrm>
          <a:prstGeom prst="rect">
            <a:avLst/>
          </a:prstGeom>
          <a:noFill/>
          <a:ln/>
        </p:spPr>
        <p:txBody>
          <a:bodyPr wrap="square" rtlCol="0" anchor="t"/>
          <a:lstStyle/>
          <a:p>
            <a:r>
              <a:rPr lang="en-US" sz="1200" dirty="0">
                <a:solidFill>
                  <a:srgbClr val="334155"/>
                </a:solidFill>
                <a:latin typeface="Calibri" pitchFamily="34" charset="0"/>
                <a:ea typeface="Calibri" pitchFamily="34" charset="-122"/>
                <a:cs typeface="Calibri" pitchFamily="34" charset="-120"/>
              </a:rPr>
              <a:t>Agency adjectives showed a consistently positive effect size across </a:t>
            </a:r>
            <a:r>
              <a:rPr lang="en-US" sz="1200" dirty="0" err="1">
                <a:solidFill>
                  <a:srgbClr val="334155"/>
                </a:solidFill>
                <a:latin typeface="Calibri" pitchFamily="34" charset="0"/>
                <a:ea typeface="Calibri" pitchFamily="34" charset="-122"/>
                <a:cs typeface="Calibri" pitchFamily="34" charset="-120"/>
              </a:rPr>
              <a:t>1860s</a:t>
            </a:r>
            <a:r>
              <a:rPr lang="en-US" sz="1200" dirty="0">
                <a:solidFill>
                  <a:srgbClr val="334155"/>
                </a:solidFill>
                <a:latin typeface="Calibri" pitchFamily="34" charset="0"/>
                <a:ea typeface="Calibri" pitchFamily="34" charset="-122"/>
                <a:cs typeface="Calibri" pitchFamily="34" charset="-120"/>
              </a:rPr>
              <a:t> and </a:t>
            </a:r>
            <a:r>
              <a:rPr lang="en-US" sz="1200" dirty="0" err="1">
                <a:solidFill>
                  <a:srgbClr val="334155"/>
                </a:solidFill>
                <a:latin typeface="Calibri" pitchFamily="34" charset="0"/>
                <a:ea typeface="Calibri" pitchFamily="34" charset="-122"/>
                <a:cs typeface="Calibri" pitchFamily="34" charset="-120"/>
              </a:rPr>
              <a:t>1960s</a:t>
            </a:r>
            <a:r>
              <a:rPr lang="en-US" sz="1200" dirty="0">
                <a:solidFill>
                  <a:srgbClr val="334155"/>
                </a:solidFill>
                <a:latin typeface="Calibri" pitchFamily="34" charset="0"/>
                <a:ea typeface="Calibri" pitchFamily="34" charset="-122"/>
                <a:cs typeface="Calibri" pitchFamily="34" charset="-120"/>
              </a:rPr>
              <a:t>.</a:t>
            </a:r>
            <a:endParaRPr lang="en-US" sz="1200" dirty="0"/>
          </a:p>
        </p:txBody>
      </p:sp>
      <p:sp>
        <p:nvSpPr>
          <p:cNvPr id="16" name="Shape 14"/>
          <p:cNvSpPr/>
          <p:nvPr/>
        </p:nvSpPr>
        <p:spPr>
          <a:xfrm>
            <a:off x="365760" y="2423160"/>
            <a:ext cx="4160520" cy="1463040"/>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17" name="Shape 15"/>
          <p:cNvSpPr/>
          <p:nvPr/>
        </p:nvSpPr>
        <p:spPr>
          <a:xfrm>
            <a:off x="365760" y="2423160"/>
            <a:ext cx="54864" cy="1463040"/>
          </a:xfrm>
          <a:prstGeom prst="rect">
            <a:avLst/>
          </a:prstGeom>
          <a:solidFill>
            <a:srgbClr val="0891B2"/>
          </a:solidFill>
          <a:ln/>
        </p:spPr>
      </p:sp>
      <p:sp>
        <p:nvSpPr>
          <p:cNvPr id="18" name="Text 16"/>
          <p:cNvSpPr/>
          <p:nvPr/>
        </p:nvSpPr>
        <p:spPr>
          <a:xfrm>
            <a:off x="493776" y="2496312"/>
            <a:ext cx="3977640" cy="201168"/>
          </a:xfrm>
          <a:prstGeom prst="rect">
            <a:avLst/>
          </a:prstGeom>
          <a:noFill/>
          <a:ln/>
        </p:spPr>
        <p:txBody>
          <a:bodyPr wrap="square" rtlCol="0" anchor="ctr"/>
          <a:lstStyle/>
          <a:p>
            <a:pPr marL="0" indent="0">
              <a:buNone/>
            </a:pPr>
            <a:r>
              <a:rPr lang="en-US" sz="900" b="1" kern="0" spc="100" dirty="0">
                <a:solidFill>
                  <a:srgbClr val="0891B2"/>
                </a:solidFill>
                <a:latin typeface="Calibri" pitchFamily="34" charset="0"/>
                <a:ea typeface="Calibri" pitchFamily="34" charset="-122"/>
                <a:cs typeface="Calibri" pitchFamily="34" charset="-120"/>
              </a:rPr>
              <a:t>COMPARISON WITH GARG ET AL. (2018)</a:t>
            </a:r>
            <a:endParaRPr lang="en-US" sz="900" dirty="0"/>
          </a:p>
        </p:txBody>
      </p:sp>
      <p:sp>
        <p:nvSpPr>
          <p:cNvPr id="19" name="Text 17"/>
          <p:cNvSpPr/>
          <p:nvPr/>
        </p:nvSpPr>
        <p:spPr>
          <a:xfrm>
            <a:off x="493776" y="2679192"/>
            <a:ext cx="3977640" cy="1115568"/>
          </a:xfrm>
          <a:prstGeom prst="rect">
            <a:avLst/>
          </a:prstGeom>
          <a:noFill/>
          <a:ln/>
        </p:spPr>
        <p:txBody>
          <a:bodyPr wrap="square" rtlCol="0" anchor="t"/>
          <a:lstStyle/>
          <a:p>
            <a:pPr marL="0" indent="0">
              <a:buNone/>
            </a:pPr>
            <a:r>
              <a:rPr lang="en-US" sz="1200" dirty="0">
                <a:solidFill>
                  <a:srgbClr val="334155"/>
                </a:solidFill>
                <a:latin typeface="Calibri" pitchFamily="34" charset="0"/>
                <a:ea typeface="Calibri" pitchFamily="34" charset="-122"/>
                <a:cs typeface="Calibri" pitchFamily="34" charset="-120"/>
              </a:rPr>
              <a:t>Garg et al. found that occupational terms shifted from male-biased to neutral over 20th-century American English, tracking documented workforce changes. Hence shown in our projectile as well.</a:t>
            </a:r>
            <a:endParaRPr lang="en-US" sz="1200" dirty="0"/>
          </a:p>
        </p:txBody>
      </p:sp>
      <p:sp>
        <p:nvSpPr>
          <p:cNvPr id="20" name="Shape 18"/>
          <p:cNvSpPr/>
          <p:nvPr/>
        </p:nvSpPr>
        <p:spPr>
          <a:xfrm>
            <a:off x="4709160" y="2423160"/>
            <a:ext cx="4069080" cy="1463040"/>
          </a:xfrm>
          <a:prstGeom prst="rect">
            <a:avLst/>
          </a:prstGeom>
          <a:solidFill>
            <a:srgbClr val="FFFFFF"/>
          </a:solidFill>
          <a:ln w="12700">
            <a:solidFill>
              <a:srgbClr val="CBD5E1"/>
            </a:solidFill>
            <a:prstDash val="solid"/>
          </a:ln>
          <a:effectLst>
            <a:outerShdw blurRad="50800" dist="25400" dir="8100000" algn="bl" rotWithShape="0">
              <a:srgbClr val="000000">
                <a:alpha val="8000"/>
              </a:srgbClr>
            </a:outerShdw>
          </a:effectLst>
        </p:spPr>
      </p:sp>
      <p:sp>
        <p:nvSpPr>
          <p:cNvPr id="21" name="Shape 19"/>
          <p:cNvSpPr/>
          <p:nvPr/>
        </p:nvSpPr>
        <p:spPr>
          <a:xfrm>
            <a:off x="4709160" y="2423160"/>
            <a:ext cx="54864" cy="1463040"/>
          </a:xfrm>
          <a:prstGeom prst="rect">
            <a:avLst/>
          </a:prstGeom>
          <a:solidFill>
            <a:srgbClr val="0891B2"/>
          </a:solidFill>
          <a:ln/>
        </p:spPr>
      </p:sp>
      <p:sp>
        <p:nvSpPr>
          <p:cNvPr id="22" name="Text 20"/>
          <p:cNvSpPr/>
          <p:nvPr/>
        </p:nvSpPr>
        <p:spPr>
          <a:xfrm>
            <a:off x="4837176" y="2496312"/>
            <a:ext cx="3886200" cy="201168"/>
          </a:xfrm>
          <a:prstGeom prst="rect">
            <a:avLst/>
          </a:prstGeom>
          <a:noFill/>
          <a:ln/>
        </p:spPr>
        <p:txBody>
          <a:bodyPr wrap="square" rtlCol="0" anchor="ctr"/>
          <a:lstStyle/>
          <a:p>
            <a:pPr marL="0" indent="0">
              <a:buNone/>
            </a:pPr>
            <a:r>
              <a:rPr lang="en-US" sz="900" b="1" kern="0" spc="100" dirty="0">
                <a:solidFill>
                  <a:srgbClr val="0891B2"/>
                </a:solidFill>
                <a:latin typeface="Calibri" pitchFamily="34" charset="0"/>
                <a:ea typeface="Calibri" pitchFamily="34" charset="-122"/>
                <a:cs typeface="Calibri" pitchFamily="34" charset="-120"/>
              </a:rPr>
              <a:t>IMPORTANT CAVEAT</a:t>
            </a:r>
            <a:endParaRPr lang="en-US" sz="900" dirty="0"/>
          </a:p>
        </p:txBody>
      </p:sp>
      <p:sp>
        <p:nvSpPr>
          <p:cNvPr id="23" name="Text 21"/>
          <p:cNvSpPr/>
          <p:nvPr/>
        </p:nvSpPr>
        <p:spPr>
          <a:xfrm>
            <a:off x="4837176" y="2679192"/>
            <a:ext cx="3886200" cy="1115568"/>
          </a:xfrm>
          <a:prstGeom prst="rect">
            <a:avLst/>
          </a:prstGeom>
          <a:noFill/>
          <a:ln/>
        </p:spPr>
        <p:txBody>
          <a:bodyPr wrap="square" rtlCol="0" anchor="t"/>
          <a:lstStyle/>
          <a:p>
            <a:pPr marL="0" indent="0">
              <a:buNone/>
            </a:pPr>
            <a:r>
              <a:rPr lang="en-US" sz="1200" dirty="0">
                <a:solidFill>
                  <a:srgbClr val="334155"/>
                </a:solidFill>
                <a:latin typeface="Calibri" pitchFamily="34" charset="0"/>
                <a:ea typeface="Calibri" pitchFamily="34" charset="-122"/>
                <a:cs typeface="Calibri" pitchFamily="34" charset="-120"/>
              </a:rPr>
              <a:t>Correlation, not causation. Our analysis shows patterns in the embedding space — statistical associations in literary language. It does not prove that authors consciously wrote with bias or that literature caused social attitudes. Both could reflect shared underlying cultural norms.</a:t>
            </a:r>
            <a:endParaRPr lang="en-US" sz="1200" dirty="0"/>
          </a:p>
        </p:txBody>
      </p:sp>
      <p:sp>
        <p:nvSpPr>
          <p:cNvPr id="24" name="Shape 22"/>
          <p:cNvSpPr/>
          <p:nvPr/>
        </p:nvSpPr>
        <p:spPr>
          <a:xfrm>
            <a:off x="365760" y="4005072"/>
            <a:ext cx="8412480" cy="877824"/>
          </a:xfrm>
          <a:prstGeom prst="rect">
            <a:avLst/>
          </a:prstGeom>
          <a:solidFill>
            <a:srgbClr val="1E3A5F"/>
          </a:solidFill>
          <a:ln/>
        </p:spPr>
        <p:txBody>
          <a:bodyPr/>
          <a:lstStyle/>
          <a:p>
            <a:endParaRPr lang="en-US" dirty="0"/>
          </a:p>
        </p:txBody>
      </p:sp>
      <p:sp>
        <p:nvSpPr>
          <p:cNvPr id="25" name="Text 23"/>
          <p:cNvSpPr/>
          <p:nvPr/>
        </p:nvSpPr>
        <p:spPr>
          <a:xfrm>
            <a:off x="502920" y="4023360"/>
            <a:ext cx="8229600" cy="841248"/>
          </a:xfrm>
          <a:prstGeom prst="rect">
            <a:avLst/>
          </a:prstGeom>
          <a:noFill/>
          <a:ln/>
        </p:spPr>
        <p:txBody>
          <a:bodyPr wrap="square" rtlCol="0" anchor="ctr"/>
          <a:lstStyle/>
          <a:p>
            <a:pPr marL="0" indent="0">
              <a:buNone/>
            </a:pPr>
            <a:r>
              <a:rPr lang="en-US" sz="1150" i="1" dirty="0">
                <a:solidFill>
                  <a:srgbClr val="CBD5E1"/>
                </a:solidFill>
                <a:latin typeface="Calibri" pitchFamily="34" charset="0"/>
                <a:ea typeface="Calibri" pitchFamily="34" charset="-122"/>
                <a:cs typeface="Calibri" pitchFamily="34" charset="-120"/>
              </a:rPr>
              <a:t>Hence are Sweat analysis moved in the right direction though with in evident and insufficient data, but it suggested the right trend of more association of agency traits and communal traits with male, in the early 20</a:t>
            </a:r>
            <a:r>
              <a:rPr lang="en-US" sz="1150" i="1" baseline="30000" dirty="0">
                <a:solidFill>
                  <a:srgbClr val="CBD5E1"/>
                </a:solidFill>
                <a:latin typeface="Calibri" pitchFamily="34" charset="0"/>
                <a:ea typeface="Calibri" pitchFamily="34" charset="-122"/>
                <a:cs typeface="Calibri" pitchFamily="34" charset="-120"/>
              </a:rPr>
              <a:t>th</a:t>
            </a:r>
            <a:r>
              <a:rPr lang="en-US" sz="1150" i="1" dirty="0">
                <a:solidFill>
                  <a:srgbClr val="CBD5E1"/>
                </a:solidFill>
                <a:latin typeface="Calibri" pitchFamily="34" charset="0"/>
                <a:ea typeface="Calibri" pitchFamily="34" charset="-122"/>
                <a:cs typeface="Calibri" pitchFamily="34" charset="-120"/>
              </a:rPr>
              <a:t> century.</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Limitations</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Limitations</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19</a:t>
            </a:r>
            <a:endParaRPr lang="en-US" sz="800" dirty="0"/>
          </a:p>
        </p:txBody>
      </p:sp>
      <p:sp>
        <p:nvSpPr>
          <p:cNvPr id="8" name="Shape 6"/>
          <p:cNvSpPr/>
          <p:nvPr/>
        </p:nvSpPr>
        <p:spPr>
          <a:xfrm>
            <a:off x="320040" y="841248"/>
            <a:ext cx="3977640" cy="1115568"/>
          </a:xfrm>
          <a:prstGeom prst="rect">
            <a:avLst/>
          </a:prstGeom>
          <a:solidFill>
            <a:srgbClr val="FFFFFF"/>
          </a:solidFill>
          <a:ln w="12700">
            <a:solidFill>
              <a:srgbClr val="CBD5E1"/>
            </a:solidFill>
            <a:prstDash val="solid"/>
          </a:ln>
        </p:spPr>
      </p:sp>
      <p:sp>
        <p:nvSpPr>
          <p:cNvPr id="9" name="Shape 7"/>
          <p:cNvSpPr/>
          <p:nvPr/>
        </p:nvSpPr>
        <p:spPr>
          <a:xfrm>
            <a:off x="320040" y="841248"/>
            <a:ext cx="54864" cy="1115568"/>
          </a:xfrm>
          <a:prstGeom prst="rect">
            <a:avLst/>
          </a:prstGeom>
          <a:solidFill>
            <a:srgbClr val="0891B2"/>
          </a:solidFill>
          <a:ln/>
        </p:spPr>
      </p:sp>
      <p:sp>
        <p:nvSpPr>
          <p:cNvPr id="10" name="Text 8"/>
          <p:cNvSpPr/>
          <p:nvPr/>
        </p:nvSpPr>
        <p:spPr>
          <a:xfrm>
            <a:off x="457200" y="896112"/>
            <a:ext cx="3749040" cy="25603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Corpus Coverage Bias</a:t>
            </a:r>
            <a:endParaRPr lang="en-US" sz="1100" dirty="0"/>
          </a:p>
        </p:txBody>
      </p:sp>
      <p:sp>
        <p:nvSpPr>
          <p:cNvPr id="11" name="Text 9"/>
          <p:cNvSpPr/>
          <p:nvPr/>
        </p:nvSpPr>
        <p:spPr>
          <a:xfrm>
            <a:off x="457200" y="1170432"/>
            <a:ext cx="3749040" cy="713232"/>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Gutenberg over-represents canonical Anglo-American literature. Non-mainstream voices, genre fiction, and non-Western authors are largely absent. Findings reflect published literary canon, not the full range of English usage.</a:t>
            </a:r>
            <a:endParaRPr lang="en-US" sz="950" dirty="0"/>
          </a:p>
        </p:txBody>
      </p:sp>
      <p:sp>
        <p:nvSpPr>
          <p:cNvPr id="12" name="Shape 10"/>
          <p:cNvSpPr/>
          <p:nvPr/>
        </p:nvSpPr>
        <p:spPr>
          <a:xfrm>
            <a:off x="4754880" y="841248"/>
            <a:ext cx="3977640" cy="1115568"/>
          </a:xfrm>
          <a:prstGeom prst="rect">
            <a:avLst/>
          </a:prstGeom>
          <a:solidFill>
            <a:srgbClr val="FFFFFF"/>
          </a:solidFill>
          <a:ln w="12700">
            <a:solidFill>
              <a:srgbClr val="CBD5E1"/>
            </a:solidFill>
            <a:prstDash val="solid"/>
          </a:ln>
        </p:spPr>
      </p:sp>
      <p:sp>
        <p:nvSpPr>
          <p:cNvPr id="13" name="Shape 11"/>
          <p:cNvSpPr/>
          <p:nvPr/>
        </p:nvSpPr>
        <p:spPr>
          <a:xfrm>
            <a:off x="4754880" y="841248"/>
            <a:ext cx="54864" cy="1115568"/>
          </a:xfrm>
          <a:prstGeom prst="rect">
            <a:avLst/>
          </a:prstGeom>
          <a:solidFill>
            <a:srgbClr val="0891B2"/>
          </a:solidFill>
          <a:ln/>
        </p:spPr>
      </p:sp>
      <p:sp>
        <p:nvSpPr>
          <p:cNvPr id="14" name="Text 12"/>
          <p:cNvSpPr/>
          <p:nvPr/>
        </p:nvSpPr>
        <p:spPr>
          <a:xfrm>
            <a:off x="4892040" y="896112"/>
            <a:ext cx="3749040" cy="25603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Static Word Representations</a:t>
            </a:r>
            <a:endParaRPr lang="en-US" sz="1100" dirty="0"/>
          </a:p>
        </p:txBody>
      </p:sp>
      <p:sp>
        <p:nvSpPr>
          <p:cNvPr id="15" name="Text 13"/>
          <p:cNvSpPr/>
          <p:nvPr/>
        </p:nvSpPr>
        <p:spPr>
          <a:xfrm>
            <a:off x="4892040" y="1170432"/>
            <a:ext cx="3749040" cy="713232"/>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Word2Vec produces one vector per word type regardless of context. Polysemous words (e.g., "gay") get a blended representation. BERT-style contextualised embeddings would handle multiple senses more accurately.</a:t>
            </a:r>
            <a:endParaRPr lang="en-US" sz="950" dirty="0"/>
          </a:p>
        </p:txBody>
      </p:sp>
      <p:sp>
        <p:nvSpPr>
          <p:cNvPr id="16" name="Shape 14"/>
          <p:cNvSpPr/>
          <p:nvPr/>
        </p:nvSpPr>
        <p:spPr>
          <a:xfrm>
            <a:off x="320040" y="2103120"/>
            <a:ext cx="3977640" cy="1115568"/>
          </a:xfrm>
          <a:prstGeom prst="rect">
            <a:avLst/>
          </a:prstGeom>
          <a:solidFill>
            <a:srgbClr val="FFFFFF"/>
          </a:solidFill>
          <a:ln w="12700">
            <a:solidFill>
              <a:srgbClr val="CBD5E1"/>
            </a:solidFill>
            <a:prstDash val="solid"/>
          </a:ln>
        </p:spPr>
      </p:sp>
      <p:sp>
        <p:nvSpPr>
          <p:cNvPr id="17" name="Shape 15"/>
          <p:cNvSpPr/>
          <p:nvPr/>
        </p:nvSpPr>
        <p:spPr>
          <a:xfrm>
            <a:off x="320040" y="2103120"/>
            <a:ext cx="54864" cy="1115568"/>
          </a:xfrm>
          <a:prstGeom prst="rect">
            <a:avLst/>
          </a:prstGeom>
          <a:solidFill>
            <a:srgbClr val="0891B2"/>
          </a:solidFill>
          <a:ln/>
        </p:spPr>
      </p:sp>
      <p:sp>
        <p:nvSpPr>
          <p:cNvPr id="18" name="Text 16"/>
          <p:cNvSpPr/>
          <p:nvPr/>
        </p:nvSpPr>
        <p:spPr>
          <a:xfrm>
            <a:off x="457200" y="2157984"/>
            <a:ext cx="3749040" cy="25603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Publication Year Estimation</a:t>
            </a:r>
            <a:endParaRPr lang="en-US" sz="1100" dirty="0"/>
          </a:p>
        </p:txBody>
      </p:sp>
      <p:sp>
        <p:nvSpPr>
          <p:cNvPr id="19" name="Text 17"/>
          <p:cNvSpPr/>
          <p:nvPr/>
        </p:nvSpPr>
        <p:spPr>
          <a:xfrm>
            <a:off x="457200" y="2432304"/>
            <a:ext cx="3749040" cy="713232"/>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Gutenberg's catalog records upload date, not publication date. We estimated via author lifespan midpoints — this introduces noise, particularly for prolific authors with long careers.</a:t>
            </a:r>
            <a:endParaRPr lang="en-US" sz="950" dirty="0"/>
          </a:p>
        </p:txBody>
      </p:sp>
      <p:sp>
        <p:nvSpPr>
          <p:cNvPr id="20" name="Shape 18"/>
          <p:cNvSpPr/>
          <p:nvPr/>
        </p:nvSpPr>
        <p:spPr>
          <a:xfrm>
            <a:off x="4754880" y="2103120"/>
            <a:ext cx="3977640" cy="1115568"/>
          </a:xfrm>
          <a:prstGeom prst="rect">
            <a:avLst/>
          </a:prstGeom>
          <a:solidFill>
            <a:srgbClr val="FFFFFF"/>
          </a:solidFill>
          <a:ln w="12700">
            <a:solidFill>
              <a:srgbClr val="CBD5E1"/>
            </a:solidFill>
            <a:prstDash val="solid"/>
          </a:ln>
        </p:spPr>
      </p:sp>
      <p:sp>
        <p:nvSpPr>
          <p:cNvPr id="21" name="Shape 19"/>
          <p:cNvSpPr/>
          <p:nvPr/>
        </p:nvSpPr>
        <p:spPr>
          <a:xfrm>
            <a:off x="4754880" y="2103120"/>
            <a:ext cx="54864" cy="1115568"/>
          </a:xfrm>
          <a:prstGeom prst="rect">
            <a:avLst/>
          </a:prstGeom>
          <a:solidFill>
            <a:srgbClr val="0891B2"/>
          </a:solidFill>
          <a:ln/>
        </p:spPr>
      </p:sp>
      <p:sp>
        <p:nvSpPr>
          <p:cNvPr id="22" name="Text 20"/>
          <p:cNvSpPr/>
          <p:nvPr/>
        </p:nvSpPr>
        <p:spPr>
          <a:xfrm>
            <a:off x="4892040" y="2157984"/>
            <a:ext cx="3749040" cy="25603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Corpus Size Imbalance</a:t>
            </a:r>
            <a:endParaRPr lang="en-US" sz="1100" dirty="0"/>
          </a:p>
        </p:txBody>
      </p:sp>
      <p:sp>
        <p:nvSpPr>
          <p:cNvPr id="23" name="Text 21"/>
          <p:cNvSpPr/>
          <p:nvPr/>
        </p:nvSpPr>
        <p:spPr>
          <a:xfrm>
            <a:off x="4892040" y="2432304"/>
            <a:ext cx="3749040" cy="713232"/>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Fewer texts survive for early periods (1800s–1820s), giving earlier slices less training data and less reliable embeddings than the richer 1900s–1960s slices.</a:t>
            </a:r>
            <a:endParaRPr lang="en-US" sz="950" dirty="0"/>
          </a:p>
        </p:txBody>
      </p:sp>
      <p:sp>
        <p:nvSpPr>
          <p:cNvPr id="24" name="Shape 22"/>
          <p:cNvSpPr/>
          <p:nvPr/>
        </p:nvSpPr>
        <p:spPr>
          <a:xfrm>
            <a:off x="320040" y="3419856"/>
            <a:ext cx="3977640" cy="1115568"/>
          </a:xfrm>
          <a:prstGeom prst="rect">
            <a:avLst/>
          </a:prstGeom>
          <a:solidFill>
            <a:srgbClr val="FFFFFF"/>
          </a:solidFill>
          <a:ln w="12700">
            <a:solidFill>
              <a:srgbClr val="CBD5E1"/>
            </a:solidFill>
            <a:prstDash val="solid"/>
          </a:ln>
        </p:spPr>
      </p:sp>
      <p:sp>
        <p:nvSpPr>
          <p:cNvPr id="25" name="Shape 23"/>
          <p:cNvSpPr/>
          <p:nvPr/>
        </p:nvSpPr>
        <p:spPr>
          <a:xfrm>
            <a:off x="320040" y="3419856"/>
            <a:ext cx="47732" cy="1115568"/>
          </a:xfrm>
          <a:prstGeom prst="rect">
            <a:avLst/>
          </a:prstGeom>
          <a:solidFill>
            <a:srgbClr val="0891B2"/>
          </a:solidFill>
          <a:ln/>
        </p:spPr>
      </p:sp>
      <p:sp>
        <p:nvSpPr>
          <p:cNvPr id="26" name="Text 24"/>
          <p:cNvSpPr/>
          <p:nvPr/>
        </p:nvSpPr>
        <p:spPr>
          <a:xfrm>
            <a:off x="457200" y="3474720"/>
            <a:ext cx="3738982" cy="256032"/>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Correlation ≠ Causation</a:t>
            </a:r>
            <a:endParaRPr lang="en-US" sz="1100" dirty="0"/>
          </a:p>
        </p:txBody>
      </p:sp>
      <p:sp>
        <p:nvSpPr>
          <p:cNvPr id="27" name="Text 25"/>
          <p:cNvSpPr/>
          <p:nvPr/>
        </p:nvSpPr>
        <p:spPr>
          <a:xfrm>
            <a:off x="457200" y="3749040"/>
            <a:ext cx="3738982" cy="713232"/>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WEAT measures statistical association in embedding space. It does not establish that literary language caused social biases, or that authors wrote with conscious intent.</a:t>
            </a:r>
            <a:endParaRPr lang="en-US" sz="950" dirty="0"/>
          </a:p>
        </p:txBody>
      </p:sp>
      <p:sp>
        <p:nvSpPr>
          <p:cNvPr id="28" name="Shape 18">
            <a:extLst>
              <a:ext uri="{FF2B5EF4-FFF2-40B4-BE49-F238E27FC236}">
                <a16:creationId xmlns:a16="http://schemas.microsoft.com/office/drawing/2014/main" id="{66C16BEB-FB58-3AE5-71A2-40599CBD19E6}"/>
              </a:ext>
            </a:extLst>
          </p:cNvPr>
          <p:cNvSpPr/>
          <p:nvPr/>
        </p:nvSpPr>
        <p:spPr>
          <a:xfrm>
            <a:off x="4754880" y="3438144"/>
            <a:ext cx="3977640" cy="1115568"/>
          </a:xfrm>
          <a:prstGeom prst="rect">
            <a:avLst/>
          </a:prstGeom>
          <a:solidFill>
            <a:srgbClr val="FFFFFF"/>
          </a:solidFill>
          <a:ln w="12700">
            <a:solidFill>
              <a:srgbClr val="CBD5E1"/>
            </a:solidFill>
            <a:prstDash val="solid"/>
          </a:ln>
        </p:spPr>
      </p:sp>
      <p:sp>
        <p:nvSpPr>
          <p:cNvPr id="29" name="Shape 19">
            <a:extLst>
              <a:ext uri="{FF2B5EF4-FFF2-40B4-BE49-F238E27FC236}">
                <a16:creationId xmlns:a16="http://schemas.microsoft.com/office/drawing/2014/main" id="{62CCD3C8-7F5D-8DC3-7C25-A97D55560EB6}"/>
              </a:ext>
            </a:extLst>
          </p:cNvPr>
          <p:cNvSpPr/>
          <p:nvPr/>
        </p:nvSpPr>
        <p:spPr>
          <a:xfrm>
            <a:off x="4754880" y="3438144"/>
            <a:ext cx="54864" cy="1115568"/>
          </a:xfrm>
          <a:prstGeom prst="rect">
            <a:avLst/>
          </a:prstGeom>
          <a:solidFill>
            <a:srgbClr val="0891B2"/>
          </a:solidFill>
          <a:ln/>
        </p:spPr>
      </p:sp>
      <p:sp>
        <p:nvSpPr>
          <p:cNvPr id="30" name="Text 20">
            <a:extLst>
              <a:ext uri="{FF2B5EF4-FFF2-40B4-BE49-F238E27FC236}">
                <a16:creationId xmlns:a16="http://schemas.microsoft.com/office/drawing/2014/main" id="{E3C3F749-CFBD-9E02-FD29-EF4A21E668A1}"/>
              </a:ext>
            </a:extLst>
          </p:cNvPr>
          <p:cNvSpPr/>
          <p:nvPr/>
        </p:nvSpPr>
        <p:spPr>
          <a:xfrm>
            <a:off x="4892040" y="3493008"/>
            <a:ext cx="3749040" cy="256032"/>
          </a:xfrm>
          <a:prstGeom prst="rect">
            <a:avLst/>
          </a:prstGeom>
          <a:noFill/>
          <a:ln/>
        </p:spPr>
        <p:txBody>
          <a:bodyPr wrap="square" rtlCol="0" anchor="ctr"/>
          <a:lstStyle/>
          <a:p>
            <a:r>
              <a:rPr lang="en-US" sz="1100" b="1" dirty="0">
                <a:solidFill>
                  <a:srgbClr val="1E3A5F"/>
                </a:solidFill>
                <a:latin typeface="Calibri" pitchFamily="34" charset="0"/>
                <a:ea typeface="Calibri" pitchFamily="34" charset="-122"/>
                <a:cs typeface="Calibri" pitchFamily="34" charset="-120"/>
              </a:rPr>
              <a:t>📅 Computation and Time constraint: </a:t>
            </a:r>
            <a:endParaRPr lang="en-US" sz="1100" dirty="0"/>
          </a:p>
        </p:txBody>
      </p:sp>
      <p:sp>
        <p:nvSpPr>
          <p:cNvPr id="31" name="Text 21">
            <a:extLst>
              <a:ext uri="{FF2B5EF4-FFF2-40B4-BE49-F238E27FC236}">
                <a16:creationId xmlns:a16="http://schemas.microsoft.com/office/drawing/2014/main" id="{C324E34B-0E51-7D29-FE96-2B1DDF303525}"/>
              </a:ext>
            </a:extLst>
          </p:cNvPr>
          <p:cNvSpPr/>
          <p:nvPr/>
        </p:nvSpPr>
        <p:spPr>
          <a:xfrm>
            <a:off x="4892040" y="3767328"/>
            <a:ext cx="3749040" cy="713232"/>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Due to limited time constraint, this project has been fed with minimal Data which is peanuts for such analysis and libraries, hence it provided an overview of the big picture.</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Text 1"/>
          <p:cNvSpPr/>
          <p:nvPr/>
        </p:nvSpPr>
        <p:spPr>
          <a:xfrm>
            <a:off x="457200" y="201168"/>
            <a:ext cx="8229600" cy="475488"/>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Conclusions</a:t>
            </a:r>
            <a:endParaRPr lang="en-US" sz="2800" dirty="0"/>
          </a:p>
        </p:txBody>
      </p:sp>
      <p:sp>
        <p:nvSpPr>
          <p:cNvPr id="4" name="Shape 2"/>
          <p:cNvSpPr/>
          <p:nvPr/>
        </p:nvSpPr>
        <p:spPr>
          <a:xfrm>
            <a:off x="365760" y="804672"/>
            <a:ext cx="475488" cy="658368"/>
          </a:xfrm>
          <a:prstGeom prst="rect">
            <a:avLst/>
          </a:prstGeom>
          <a:solidFill>
            <a:srgbClr val="0891B2"/>
          </a:solidFill>
          <a:ln/>
        </p:spPr>
      </p:sp>
      <p:sp>
        <p:nvSpPr>
          <p:cNvPr id="5" name="Text 3"/>
          <p:cNvSpPr/>
          <p:nvPr/>
        </p:nvSpPr>
        <p:spPr>
          <a:xfrm>
            <a:off x="365760" y="804672"/>
            <a:ext cx="475488" cy="6583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RQ1</a:t>
            </a:r>
            <a:endParaRPr lang="en-US" sz="900" dirty="0"/>
          </a:p>
        </p:txBody>
      </p:sp>
      <p:sp>
        <p:nvSpPr>
          <p:cNvPr id="6" name="Shape 4"/>
          <p:cNvSpPr/>
          <p:nvPr/>
        </p:nvSpPr>
        <p:spPr>
          <a:xfrm>
            <a:off x="868680" y="804672"/>
            <a:ext cx="7909560" cy="658368"/>
          </a:xfrm>
          <a:prstGeom prst="rect">
            <a:avLst/>
          </a:prstGeom>
          <a:solidFill>
            <a:srgbClr val="162E4A"/>
          </a:solidFill>
          <a:ln w="6350">
            <a:solidFill>
              <a:srgbClr val="0891B2"/>
            </a:solidFill>
            <a:prstDash val="solid"/>
          </a:ln>
        </p:spPr>
      </p:sp>
      <p:sp>
        <p:nvSpPr>
          <p:cNvPr id="7" name="Text 5"/>
          <p:cNvSpPr/>
          <p:nvPr/>
        </p:nvSpPr>
        <p:spPr>
          <a:xfrm>
            <a:off x="1005840" y="822960"/>
            <a:ext cx="7635240" cy="62179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Top semantic changers were single, like, fall, present, soil. Most stable words sit, port, busy, library, </a:t>
            </a:r>
            <a:r>
              <a:rPr lang="en-US" sz="1050" dirty="0" err="1">
                <a:solidFill>
                  <a:srgbClr val="FFFFFF"/>
                </a:solidFill>
                <a:latin typeface="Calibri" pitchFamily="34" charset="0"/>
                <a:ea typeface="Calibri" pitchFamily="34" charset="-122"/>
                <a:cs typeface="Calibri" pitchFamily="34" charset="-120"/>
              </a:rPr>
              <a:t>centruy</a:t>
            </a:r>
            <a:endParaRPr lang="en-US" sz="1050" dirty="0"/>
          </a:p>
        </p:txBody>
      </p:sp>
      <p:sp>
        <p:nvSpPr>
          <p:cNvPr id="8" name="Shape 6"/>
          <p:cNvSpPr/>
          <p:nvPr/>
        </p:nvSpPr>
        <p:spPr>
          <a:xfrm>
            <a:off x="365760" y="1618488"/>
            <a:ext cx="475488" cy="658368"/>
          </a:xfrm>
          <a:prstGeom prst="rect">
            <a:avLst/>
          </a:prstGeom>
          <a:solidFill>
            <a:srgbClr val="0891B2"/>
          </a:solidFill>
          <a:ln/>
        </p:spPr>
      </p:sp>
      <p:sp>
        <p:nvSpPr>
          <p:cNvPr id="9" name="Text 7"/>
          <p:cNvSpPr/>
          <p:nvPr/>
        </p:nvSpPr>
        <p:spPr>
          <a:xfrm>
            <a:off x="365760" y="1618488"/>
            <a:ext cx="475488" cy="6583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RQ2</a:t>
            </a:r>
            <a:endParaRPr lang="en-US" sz="900" dirty="0"/>
          </a:p>
        </p:txBody>
      </p:sp>
      <p:sp>
        <p:nvSpPr>
          <p:cNvPr id="10" name="Shape 8"/>
          <p:cNvSpPr/>
          <p:nvPr/>
        </p:nvSpPr>
        <p:spPr>
          <a:xfrm>
            <a:off x="868680" y="1618488"/>
            <a:ext cx="7909560" cy="658368"/>
          </a:xfrm>
          <a:prstGeom prst="rect">
            <a:avLst/>
          </a:prstGeom>
          <a:solidFill>
            <a:srgbClr val="162E4A"/>
          </a:solidFill>
          <a:ln w="6350">
            <a:solidFill>
              <a:srgbClr val="0891B2"/>
            </a:solidFill>
            <a:prstDash val="solid"/>
          </a:ln>
        </p:spPr>
      </p:sp>
      <p:sp>
        <p:nvSpPr>
          <p:cNvPr id="11" name="Text 9"/>
          <p:cNvSpPr/>
          <p:nvPr/>
        </p:nvSpPr>
        <p:spPr>
          <a:xfrm>
            <a:off x="1005840" y="1636776"/>
            <a:ext cx="7635240" cy="62179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Drill-down confirmed pejoration, amelioration, </a:t>
            </a:r>
            <a:r>
              <a:rPr lang="en-US" sz="1050" dirty="0" err="1">
                <a:solidFill>
                  <a:srgbClr val="FFFFFF"/>
                </a:solidFill>
                <a:latin typeface="Calibri" pitchFamily="34" charset="0"/>
                <a:ea typeface="Calibri" pitchFamily="34" charset="-122"/>
                <a:cs typeface="Calibri" pitchFamily="34" charset="-120"/>
              </a:rPr>
              <a:t>specialisation</a:t>
            </a:r>
            <a:r>
              <a:rPr lang="en-US" sz="1050" dirty="0">
                <a:solidFill>
                  <a:srgbClr val="FFFFFF"/>
                </a:solidFill>
                <a:latin typeface="Calibri" pitchFamily="34" charset="0"/>
                <a:ea typeface="Calibri" pitchFamily="34" charset="-122"/>
                <a:cs typeface="Calibri" pitchFamily="34" charset="-120"/>
              </a:rPr>
              <a:t>, validated against documented linguistic history.</a:t>
            </a:r>
            <a:endParaRPr lang="en-US" sz="1050" dirty="0"/>
          </a:p>
        </p:txBody>
      </p:sp>
      <p:sp>
        <p:nvSpPr>
          <p:cNvPr id="12" name="Shape 10"/>
          <p:cNvSpPr/>
          <p:nvPr/>
        </p:nvSpPr>
        <p:spPr>
          <a:xfrm>
            <a:off x="365760" y="2432304"/>
            <a:ext cx="475488" cy="658368"/>
          </a:xfrm>
          <a:prstGeom prst="rect">
            <a:avLst/>
          </a:prstGeom>
          <a:solidFill>
            <a:srgbClr val="0891B2"/>
          </a:solidFill>
          <a:ln/>
        </p:spPr>
      </p:sp>
      <p:sp>
        <p:nvSpPr>
          <p:cNvPr id="13" name="Text 11"/>
          <p:cNvSpPr/>
          <p:nvPr/>
        </p:nvSpPr>
        <p:spPr>
          <a:xfrm>
            <a:off x="365760" y="2432304"/>
            <a:ext cx="475488" cy="6583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RQ3</a:t>
            </a:r>
            <a:endParaRPr lang="en-US" sz="900" dirty="0"/>
          </a:p>
        </p:txBody>
      </p:sp>
      <p:sp>
        <p:nvSpPr>
          <p:cNvPr id="14" name="Shape 12"/>
          <p:cNvSpPr/>
          <p:nvPr/>
        </p:nvSpPr>
        <p:spPr>
          <a:xfrm>
            <a:off x="868680" y="2432304"/>
            <a:ext cx="7909560" cy="658368"/>
          </a:xfrm>
          <a:prstGeom prst="rect">
            <a:avLst/>
          </a:prstGeom>
          <a:solidFill>
            <a:srgbClr val="162E4A"/>
          </a:solidFill>
          <a:ln w="6350">
            <a:solidFill>
              <a:srgbClr val="0891B2"/>
            </a:solidFill>
            <a:prstDash val="solid"/>
          </a:ln>
        </p:spPr>
      </p:sp>
      <p:sp>
        <p:nvSpPr>
          <p:cNvPr id="15" name="Text 13"/>
          <p:cNvSpPr/>
          <p:nvPr/>
        </p:nvSpPr>
        <p:spPr>
          <a:xfrm>
            <a:off x="1005840" y="2450592"/>
            <a:ext cx="7635240" cy="62179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Target words (awful, nice, gay, pioneer) showed peak drifts and return— demonstrating CADE's ability to track fine-grained semantic drift.</a:t>
            </a:r>
            <a:endParaRPr lang="en-US" sz="1050" dirty="0"/>
          </a:p>
        </p:txBody>
      </p:sp>
      <p:sp>
        <p:nvSpPr>
          <p:cNvPr id="16" name="Shape 14"/>
          <p:cNvSpPr/>
          <p:nvPr/>
        </p:nvSpPr>
        <p:spPr>
          <a:xfrm>
            <a:off x="365760" y="3246120"/>
            <a:ext cx="475488" cy="658368"/>
          </a:xfrm>
          <a:prstGeom prst="rect">
            <a:avLst/>
          </a:prstGeom>
          <a:solidFill>
            <a:srgbClr val="0891B2"/>
          </a:solidFill>
          <a:ln/>
        </p:spPr>
      </p:sp>
      <p:sp>
        <p:nvSpPr>
          <p:cNvPr id="17" name="Text 15"/>
          <p:cNvSpPr/>
          <p:nvPr/>
        </p:nvSpPr>
        <p:spPr>
          <a:xfrm>
            <a:off x="365760" y="3246120"/>
            <a:ext cx="475488" cy="6583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RQ4</a:t>
            </a:r>
            <a:endParaRPr lang="en-US" sz="900" dirty="0"/>
          </a:p>
        </p:txBody>
      </p:sp>
      <p:sp>
        <p:nvSpPr>
          <p:cNvPr id="18" name="Shape 16"/>
          <p:cNvSpPr/>
          <p:nvPr/>
        </p:nvSpPr>
        <p:spPr>
          <a:xfrm>
            <a:off x="868680" y="3246120"/>
            <a:ext cx="7909560" cy="658368"/>
          </a:xfrm>
          <a:prstGeom prst="rect">
            <a:avLst/>
          </a:prstGeom>
          <a:solidFill>
            <a:srgbClr val="162E4A"/>
          </a:solidFill>
          <a:ln w="6350">
            <a:solidFill>
              <a:srgbClr val="0891B2"/>
            </a:solidFill>
            <a:prstDash val="solid"/>
          </a:ln>
        </p:spPr>
      </p:sp>
      <p:sp>
        <p:nvSpPr>
          <p:cNvPr id="19" name="Text 17"/>
          <p:cNvSpPr/>
          <p:nvPr/>
        </p:nvSpPr>
        <p:spPr>
          <a:xfrm>
            <a:off x="1005840" y="3264408"/>
            <a:ext cx="7635240" cy="621792"/>
          </a:xfrm>
          <a:prstGeom prst="rect">
            <a:avLst/>
          </a:prstGeom>
          <a:noFill/>
          <a:ln/>
        </p:spPr>
        <p:txBody>
          <a:bodyPr wrap="square" rtlCol="0" anchor="ctr"/>
          <a:lstStyle/>
          <a:p>
            <a:pPr marL="0" indent="0">
              <a:buNone/>
            </a:pPr>
            <a:r>
              <a:rPr lang="en-US" sz="1050" dirty="0">
                <a:solidFill>
                  <a:srgbClr val="D97706"/>
                </a:solidFill>
                <a:latin typeface="Calibri" pitchFamily="34" charset="0"/>
                <a:ea typeface="Calibri" pitchFamily="34" charset="-122"/>
                <a:cs typeface="Calibri" pitchFamily="34" charset="-120"/>
              </a:rPr>
              <a:t>Agency adjectives strong significance and association in mid 19</a:t>
            </a:r>
            <a:r>
              <a:rPr lang="en-US" sz="1050" baseline="30000" dirty="0">
                <a:solidFill>
                  <a:srgbClr val="D97706"/>
                </a:solidFill>
                <a:latin typeface="Calibri" pitchFamily="34" charset="0"/>
                <a:ea typeface="Calibri" pitchFamily="34" charset="-122"/>
                <a:cs typeface="Calibri" pitchFamily="34" charset="-120"/>
              </a:rPr>
              <a:t>th</a:t>
            </a:r>
            <a:r>
              <a:rPr lang="en-US" sz="1050" dirty="0">
                <a:solidFill>
                  <a:srgbClr val="D97706"/>
                </a:solidFill>
                <a:latin typeface="Calibri" pitchFamily="34" charset="0"/>
                <a:ea typeface="Calibri" pitchFamily="34" charset="-122"/>
                <a:cs typeface="Calibri" pitchFamily="34" charset="-120"/>
              </a:rPr>
              <a:t> to early 20</a:t>
            </a:r>
            <a:r>
              <a:rPr lang="en-US" sz="1050" baseline="30000" dirty="0">
                <a:solidFill>
                  <a:srgbClr val="D97706"/>
                </a:solidFill>
                <a:latin typeface="Calibri" pitchFamily="34" charset="0"/>
                <a:ea typeface="Calibri" pitchFamily="34" charset="-122"/>
                <a:cs typeface="Calibri" pitchFamily="34" charset="-120"/>
              </a:rPr>
              <a:t>th</a:t>
            </a:r>
            <a:r>
              <a:rPr lang="en-US" sz="1050" dirty="0">
                <a:solidFill>
                  <a:srgbClr val="D97706"/>
                </a:solidFill>
                <a:latin typeface="Calibri" pitchFamily="34" charset="0"/>
                <a:ea typeface="Calibri" pitchFamily="34" charset="-122"/>
                <a:cs typeface="Calibri" pitchFamily="34" charset="-120"/>
              </a:rPr>
              <a:t> century.</a:t>
            </a:r>
            <a:endParaRPr lang="en-US" sz="1050" dirty="0"/>
          </a:p>
        </p:txBody>
      </p:sp>
      <p:sp>
        <p:nvSpPr>
          <p:cNvPr id="20" name="Shape 18"/>
          <p:cNvSpPr/>
          <p:nvPr/>
        </p:nvSpPr>
        <p:spPr>
          <a:xfrm>
            <a:off x="365760" y="4059936"/>
            <a:ext cx="475488" cy="658368"/>
          </a:xfrm>
          <a:prstGeom prst="rect">
            <a:avLst/>
          </a:prstGeom>
          <a:solidFill>
            <a:srgbClr val="0891B2"/>
          </a:solidFill>
          <a:ln/>
        </p:spPr>
      </p:sp>
      <p:sp>
        <p:nvSpPr>
          <p:cNvPr id="21" name="Text 19"/>
          <p:cNvSpPr/>
          <p:nvPr/>
        </p:nvSpPr>
        <p:spPr>
          <a:xfrm>
            <a:off x="365760" y="4059936"/>
            <a:ext cx="475488" cy="6583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RQ5</a:t>
            </a:r>
            <a:endParaRPr lang="en-US" sz="900" dirty="0"/>
          </a:p>
        </p:txBody>
      </p:sp>
      <p:sp>
        <p:nvSpPr>
          <p:cNvPr id="22" name="Shape 20"/>
          <p:cNvSpPr/>
          <p:nvPr/>
        </p:nvSpPr>
        <p:spPr>
          <a:xfrm>
            <a:off x="868680" y="4059936"/>
            <a:ext cx="7909560" cy="658368"/>
          </a:xfrm>
          <a:prstGeom prst="rect">
            <a:avLst/>
          </a:prstGeom>
          <a:solidFill>
            <a:srgbClr val="162E4A"/>
          </a:solidFill>
          <a:ln w="6350">
            <a:solidFill>
              <a:srgbClr val="0891B2"/>
            </a:solidFill>
            <a:prstDash val="solid"/>
          </a:ln>
        </p:spPr>
      </p:sp>
      <p:sp>
        <p:nvSpPr>
          <p:cNvPr id="23" name="Text 21"/>
          <p:cNvSpPr/>
          <p:nvPr/>
        </p:nvSpPr>
        <p:spPr>
          <a:xfrm>
            <a:off x="1005840" y="4078224"/>
            <a:ext cx="7635240" cy="621792"/>
          </a:xfrm>
          <a:prstGeom prst="rect">
            <a:avLst/>
          </a:prstGeom>
          <a:noFill/>
          <a:ln/>
        </p:spPr>
        <p:txBody>
          <a:bodyPr wrap="square" rtlCol="0" anchor="ctr"/>
          <a:lstStyle/>
          <a:p>
            <a:r>
              <a:rPr lang="en-US" sz="1050" dirty="0">
                <a:solidFill>
                  <a:srgbClr val="D97706"/>
                </a:solidFill>
                <a:latin typeface="Calibri" pitchFamily="34" charset="0"/>
                <a:ea typeface="Calibri" pitchFamily="34" charset="-122"/>
                <a:cs typeface="Calibri" pitchFamily="34" charset="-120"/>
              </a:rPr>
              <a:t>The SWEAT trajectory showed enhanced significance and association  which does parallel the pattern documented by Garg et al. (2018) for American English over the same period.</a:t>
            </a:r>
            <a:endParaRPr lang="en-US" sz="1050" dirty="0"/>
          </a:p>
        </p:txBody>
      </p:sp>
      <p:sp>
        <p:nvSpPr>
          <p:cNvPr id="24" name="Shape 22"/>
          <p:cNvSpPr/>
          <p:nvPr/>
        </p:nvSpPr>
        <p:spPr>
          <a:xfrm>
            <a:off x="8778240" y="4663440"/>
            <a:ext cx="256032" cy="256032"/>
          </a:xfrm>
          <a:prstGeom prst="ellipse">
            <a:avLst/>
          </a:prstGeom>
          <a:solidFill>
            <a:srgbClr val="0891B2"/>
          </a:solidFill>
          <a:ln/>
        </p:spPr>
      </p:sp>
      <p:sp>
        <p:nvSpPr>
          <p:cNvPr id="25" name="Text 23"/>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sp>
      <p:sp>
        <p:nvSpPr>
          <p:cNvPr id="3" name="Shape 1"/>
          <p:cNvSpPr/>
          <p:nvPr/>
        </p:nvSpPr>
        <p:spPr>
          <a:xfrm>
            <a:off x="0" y="54864"/>
            <a:ext cx="9144000" cy="658368"/>
          </a:xfrm>
          <a:prstGeom prst="rect">
            <a:avLst/>
          </a:prstGeom>
          <a:solidFill>
            <a:srgbClr val="1E3A5F"/>
          </a:solidFill>
          <a:ln/>
        </p:spPr>
      </p:sp>
      <p:sp>
        <p:nvSpPr>
          <p:cNvPr id="4" name="Text 2"/>
          <p:cNvSpPr/>
          <p:nvPr/>
        </p:nvSpPr>
        <p:spPr>
          <a:xfrm>
            <a:off x="365760" y="54864"/>
            <a:ext cx="8412480" cy="658368"/>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References</a:t>
            </a:r>
            <a:endParaRPr lang="en-US" sz="2200" dirty="0"/>
          </a:p>
        </p:txBody>
      </p:sp>
      <p:sp>
        <p:nvSpPr>
          <p:cNvPr id="5" name="Text 3"/>
          <p:cNvSpPr/>
          <p:nvPr/>
        </p:nvSpPr>
        <p:spPr>
          <a:xfrm>
            <a:off x="274320" y="4736592"/>
            <a:ext cx="8595360" cy="274320"/>
          </a:xfrm>
          <a:prstGeom prst="rect">
            <a:avLst/>
          </a:prstGeom>
          <a:noFill/>
          <a:ln/>
        </p:spPr>
        <p:txBody>
          <a:bodyPr wrap="square" rtlCol="0" anchor="ctr"/>
          <a:lstStyle/>
          <a:p>
            <a:pPr marL="0" indent="0" algn="ctr">
              <a:buNone/>
            </a:pPr>
            <a:r>
              <a:rPr lang="en-US" sz="800" dirty="0">
                <a:solidFill>
                  <a:srgbClr val="CBD5E1"/>
                </a:solidFill>
                <a:latin typeface="Calibri" pitchFamily="34" charset="0"/>
                <a:ea typeface="Calibri" pitchFamily="34" charset="-122"/>
                <a:cs typeface="Calibri" pitchFamily="34" charset="-120"/>
              </a:rPr>
              <a:t>Data Semantics 2024–25  |  Project 5: Distributional Semantics  |  References</a:t>
            </a:r>
            <a:endParaRPr lang="en-US" sz="800" dirty="0"/>
          </a:p>
        </p:txBody>
      </p:sp>
      <p:sp>
        <p:nvSpPr>
          <p:cNvPr id="6" name="Shape 4"/>
          <p:cNvSpPr/>
          <p:nvPr/>
        </p:nvSpPr>
        <p:spPr>
          <a:xfrm>
            <a:off x="8778240" y="4663440"/>
            <a:ext cx="256032" cy="256032"/>
          </a:xfrm>
          <a:prstGeom prst="ellipse">
            <a:avLst/>
          </a:prstGeom>
          <a:solidFill>
            <a:srgbClr val="0891B2"/>
          </a:solidFill>
          <a:ln/>
        </p:spPr>
      </p:sp>
      <p:sp>
        <p:nvSpPr>
          <p:cNvPr id="7" name="Text 5"/>
          <p:cNvSpPr/>
          <p:nvPr/>
        </p:nvSpPr>
        <p:spPr>
          <a:xfrm>
            <a:off x="8778240" y="4663440"/>
            <a:ext cx="256032" cy="256032"/>
          </a:xfrm>
          <a:prstGeom prst="rect">
            <a:avLst/>
          </a:prstGeom>
          <a:noFill/>
          <a:ln/>
        </p:spPr>
        <p:txBody>
          <a:bodyPr wrap="square"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21</a:t>
            </a:r>
            <a:endParaRPr lang="en-US" sz="800" dirty="0"/>
          </a:p>
        </p:txBody>
      </p:sp>
      <p:sp>
        <p:nvSpPr>
          <p:cNvPr id="8" name="Shape 6"/>
          <p:cNvSpPr/>
          <p:nvPr/>
        </p:nvSpPr>
        <p:spPr>
          <a:xfrm>
            <a:off x="365760" y="841248"/>
            <a:ext cx="475488" cy="658368"/>
          </a:xfrm>
          <a:prstGeom prst="rect">
            <a:avLst/>
          </a:prstGeom>
          <a:solidFill>
            <a:srgbClr val="0891B2"/>
          </a:solidFill>
          <a:ln/>
        </p:spPr>
      </p:sp>
      <p:sp>
        <p:nvSpPr>
          <p:cNvPr id="9" name="Text 7"/>
          <p:cNvSpPr/>
          <p:nvPr/>
        </p:nvSpPr>
        <p:spPr>
          <a:xfrm>
            <a:off x="365760" y="841248"/>
            <a:ext cx="475488"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0" name="Shape 8"/>
          <p:cNvSpPr/>
          <p:nvPr/>
        </p:nvSpPr>
        <p:spPr>
          <a:xfrm>
            <a:off x="868680" y="841248"/>
            <a:ext cx="7909560" cy="658368"/>
          </a:xfrm>
          <a:prstGeom prst="rect">
            <a:avLst/>
          </a:prstGeom>
          <a:solidFill>
            <a:srgbClr val="FFFFFF"/>
          </a:solidFill>
          <a:ln w="6350">
            <a:solidFill>
              <a:srgbClr val="CBD5E1"/>
            </a:solidFill>
            <a:prstDash val="solid"/>
          </a:ln>
        </p:spPr>
      </p:sp>
      <p:sp>
        <p:nvSpPr>
          <p:cNvPr id="11" name="Text 9"/>
          <p:cNvSpPr/>
          <p:nvPr/>
        </p:nvSpPr>
        <p:spPr>
          <a:xfrm>
            <a:off x="987552" y="859536"/>
            <a:ext cx="7699248" cy="621792"/>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Mikolov, T., Sutskever, I., Chen, K., Corrado, G., &amp; Dean, J. (2013). Distributed representations of words and phrases and their compositionality. NeurIPS 26.</a:t>
            </a:r>
            <a:endParaRPr lang="en-US" sz="1000" dirty="0"/>
          </a:p>
        </p:txBody>
      </p:sp>
      <p:sp>
        <p:nvSpPr>
          <p:cNvPr id="12" name="Shape 10"/>
          <p:cNvSpPr/>
          <p:nvPr/>
        </p:nvSpPr>
        <p:spPr>
          <a:xfrm>
            <a:off x="365760" y="1645920"/>
            <a:ext cx="475488" cy="658368"/>
          </a:xfrm>
          <a:prstGeom prst="rect">
            <a:avLst/>
          </a:prstGeom>
          <a:solidFill>
            <a:srgbClr val="0891B2"/>
          </a:solidFill>
          <a:ln/>
        </p:spPr>
      </p:sp>
      <p:sp>
        <p:nvSpPr>
          <p:cNvPr id="13" name="Text 11"/>
          <p:cNvSpPr/>
          <p:nvPr/>
        </p:nvSpPr>
        <p:spPr>
          <a:xfrm>
            <a:off x="365760" y="1645920"/>
            <a:ext cx="475488"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4" name="Shape 12"/>
          <p:cNvSpPr/>
          <p:nvPr/>
        </p:nvSpPr>
        <p:spPr>
          <a:xfrm>
            <a:off x="868680" y="1645920"/>
            <a:ext cx="7909560" cy="658368"/>
          </a:xfrm>
          <a:prstGeom prst="rect">
            <a:avLst/>
          </a:prstGeom>
          <a:solidFill>
            <a:srgbClr val="E8F4FD"/>
          </a:solidFill>
          <a:ln w="6350">
            <a:solidFill>
              <a:srgbClr val="CBD5E1"/>
            </a:solidFill>
            <a:prstDash val="solid"/>
          </a:ln>
        </p:spPr>
      </p:sp>
      <p:sp>
        <p:nvSpPr>
          <p:cNvPr id="15" name="Text 13"/>
          <p:cNvSpPr/>
          <p:nvPr/>
        </p:nvSpPr>
        <p:spPr>
          <a:xfrm>
            <a:off x="987552" y="1664208"/>
            <a:ext cx="7699248" cy="621792"/>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Hamilton, W. L., Leskovec, J., &amp; Jurafsky, D. (2016). Diachronic word embeddings reveal statistical laws of semantic change. ACL 2016. https://aclanthology.org/P16-1141</a:t>
            </a:r>
            <a:endParaRPr lang="en-US" sz="1000" dirty="0"/>
          </a:p>
        </p:txBody>
      </p:sp>
      <p:sp>
        <p:nvSpPr>
          <p:cNvPr id="16" name="Shape 14"/>
          <p:cNvSpPr/>
          <p:nvPr/>
        </p:nvSpPr>
        <p:spPr>
          <a:xfrm>
            <a:off x="365760" y="2450592"/>
            <a:ext cx="475488" cy="658368"/>
          </a:xfrm>
          <a:prstGeom prst="rect">
            <a:avLst/>
          </a:prstGeom>
          <a:solidFill>
            <a:srgbClr val="0891B2"/>
          </a:solidFill>
          <a:ln/>
        </p:spPr>
      </p:sp>
      <p:sp>
        <p:nvSpPr>
          <p:cNvPr id="17" name="Text 15"/>
          <p:cNvSpPr/>
          <p:nvPr/>
        </p:nvSpPr>
        <p:spPr>
          <a:xfrm>
            <a:off x="365760" y="2450592"/>
            <a:ext cx="475488"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8" name="Shape 16"/>
          <p:cNvSpPr/>
          <p:nvPr/>
        </p:nvSpPr>
        <p:spPr>
          <a:xfrm>
            <a:off x="868680" y="2450592"/>
            <a:ext cx="7909560" cy="658368"/>
          </a:xfrm>
          <a:prstGeom prst="rect">
            <a:avLst/>
          </a:prstGeom>
          <a:solidFill>
            <a:srgbClr val="FFFFFF"/>
          </a:solidFill>
          <a:ln w="6350">
            <a:solidFill>
              <a:srgbClr val="CBD5E1"/>
            </a:solidFill>
            <a:prstDash val="solid"/>
          </a:ln>
        </p:spPr>
      </p:sp>
      <p:sp>
        <p:nvSpPr>
          <p:cNvPr id="19" name="Text 17"/>
          <p:cNvSpPr/>
          <p:nvPr/>
        </p:nvSpPr>
        <p:spPr>
          <a:xfrm>
            <a:off x="987552" y="2468880"/>
            <a:ext cx="7699248" cy="621792"/>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Bianchi, F., Terragni, S., &amp; Hovy, D. (2020). Compass-aligned distributional embeddings for study of semantic change in Twitter streams. arXiv:1906.02377.</a:t>
            </a:r>
            <a:endParaRPr lang="en-US" sz="1000" dirty="0"/>
          </a:p>
        </p:txBody>
      </p:sp>
      <p:sp>
        <p:nvSpPr>
          <p:cNvPr id="20" name="Shape 18"/>
          <p:cNvSpPr/>
          <p:nvPr/>
        </p:nvSpPr>
        <p:spPr>
          <a:xfrm>
            <a:off x="365760" y="3255264"/>
            <a:ext cx="475488" cy="658368"/>
          </a:xfrm>
          <a:prstGeom prst="rect">
            <a:avLst/>
          </a:prstGeom>
          <a:solidFill>
            <a:srgbClr val="0891B2"/>
          </a:solidFill>
          <a:ln/>
        </p:spPr>
      </p:sp>
      <p:sp>
        <p:nvSpPr>
          <p:cNvPr id="21" name="Text 19"/>
          <p:cNvSpPr/>
          <p:nvPr/>
        </p:nvSpPr>
        <p:spPr>
          <a:xfrm>
            <a:off x="365760" y="3255264"/>
            <a:ext cx="475488"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2" name="Shape 20"/>
          <p:cNvSpPr/>
          <p:nvPr/>
        </p:nvSpPr>
        <p:spPr>
          <a:xfrm>
            <a:off x="868680" y="3255264"/>
            <a:ext cx="7909560" cy="658368"/>
          </a:xfrm>
          <a:prstGeom prst="rect">
            <a:avLst/>
          </a:prstGeom>
          <a:solidFill>
            <a:srgbClr val="E8F4FD"/>
          </a:solidFill>
          <a:ln w="6350">
            <a:solidFill>
              <a:srgbClr val="CBD5E1"/>
            </a:solidFill>
            <a:prstDash val="solid"/>
          </a:ln>
        </p:spPr>
      </p:sp>
      <p:sp>
        <p:nvSpPr>
          <p:cNvPr id="23" name="Text 21"/>
          <p:cNvSpPr/>
          <p:nvPr/>
        </p:nvSpPr>
        <p:spPr>
          <a:xfrm>
            <a:off x="987552" y="3273552"/>
            <a:ext cx="7699248" cy="621792"/>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Caliskan, A., Bryson, J. J., &amp; Narayanan, A. (2017). Semantics derived automatically from language corpora contain human-like biases. Science, 356(6334), 183–186.</a:t>
            </a:r>
            <a:endParaRPr lang="en-US" sz="1000" dirty="0"/>
          </a:p>
        </p:txBody>
      </p:sp>
      <p:sp>
        <p:nvSpPr>
          <p:cNvPr id="24" name="Shape 22"/>
          <p:cNvSpPr/>
          <p:nvPr/>
        </p:nvSpPr>
        <p:spPr>
          <a:xfrm>
            <a:off x="365760" y="4059936"/>
            <a:ext cx="475488" cy="658368"/>
          </a:xfrm>
          <a:prstGeom prst="rect">
            <a:avLst/>
          </a:prstGeom>
          <a:solidFill>
            <a:srgbClr val="0891B2"/>
          </a:solidFill>
          <a:ln/>
        </p:spPr>
      </p:sp>
      <p:sp>
        <p:nvSpPr>
          <p:cNvPr id="25" name="Text 23"/>
          <p:cNvSpPr/>
          <p:nvPr/>
        </p:nvSpPr>
        <p:spPr>
          <a:xfrm>
            <a:off x="365760" y="4059936"/>
            <a:ext cx="475488"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26" name="Shape 24"/>
          <p:cNvSpPr/>
          <p:nvPr/>
        </p:nvSpPr>
        <p:spPr>
          <a:xfrm>
            <a:off x="868680" y="4059936"/>
            <a:ext cx="7909560" cy="658368"/>
          </a:xfrm>
          <a:prstGeom prst="rect">
            <a:avLst/>
          </a:prstGeom>
          <a:solidFill>
            <a:srgbClr val="FFFFFF"/>
          </a:solidFill>
          <a:ln w="6350">
            <a:solidFill>
              <a:srgbClr val="CBD5E1"/>
            </a:solidFill>
            <a:prstDash val="solid"/>
          </a:ln>
        </p:spPr>
      </p:sp>
      <p:sp>
        <p:nvSpPr>
          <p:cNvPr id="27" name="Text 25"/>
          <p:cNvSpPr/>
          <p:nvPr/>
        </p:nvSpPr>
        <p:spPr>
          <a:xfrm>
            <a:off x="987552" y="4078224"/>
            <a:ext cx="7699248" cy="621792"/>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Garg, N., Schiebinger, L., Jurafsky, D., &amp; Zou, J. (2018). Word embeddings quantify 100 years of gender and ethnic stereotypes. PNAS 115(16), E3635–E3644. arXiv:1711.08412.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TotalTime>
  <Words>2723</Words>
  <Application>Microsoft Office PowerPoint</Application>
  <PresentationFormat>On-screen Show (16:9)</PresentationFormat>
  <Paragraphs>410</Paragraphs>
  <Slides>21</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Distributional Semantics — English Literature</dc:title>
  <dc:subject>PptxGenJS Presentation</dc:subject>
  <dc:creator>Data Semantics Project</dc:creator>
  <cp:lastModifiedBy>Fayyaz Hussain Shah</cp:lastModifiedBy>
  <cp:revision>15</cp:revision>
  <dcterms:created xsi:type="dcterms:W3CDTF">2026-05-06T21:36:30Z</dcterms:created>
  <dcterms:modified xsi:type="dcterms:W3CDTF">2026-05-09T21:32:10Z</dcterms:modified>
</cp:coreProperties>
</file>